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10B981">
              <a:alpha val="12000"/>
            </a:srgbClr>
          </a:solidFill>
          <a:ln/>
        </p:spPr>
      </p:sp>
      <p:sp>
        <p:nvSpPr>
          <p:cNvPr id="3" name="Text 1"/>
          <p:cNvSpPr/>
          <p:nvPr/>
        </p:nvSpPr>
        <p:spPr>
          <a:xfrm>
            <a:off x="457200" y="1097280"/>
            <a:ext cx="8229600" cy="2286000"/>
          </a:xfrm>
          <a:prstGeom prst="rect">
            <a:avLst/>
          </a:prstGeom>
          <a:noFill/>
          <a:ln/>
        </p:spPr>
        <p:txBody>
          <a:bodyPr wrap="square" rtlCol="0" anchor="ctr"/>
          <a:lstStyle/>
          <a:p>
            <a:pPr algn="ctr" indent="0" marL="0">
              <a:buNone/>
            </a:pPr>
            <a:r>
              <a:rPr lang="en-US" sz="4400" b="1" dirty="0">
                <a:solidFill>
                  <a:srgbClr val="F8FAFC"/>
                </a:solidFill>
                <a:latin typeface="Arial" pitchFamily="34" charset="0"/>
                <a:ea typeface="Arial" pitchFamily="34" charset="-122"/>
                <a:cs typeface="Arial" pitchFamily="34" charset="-120"/>
              </a:rPr>
              <a:t>معركة الـ 40%:</a:t>
            </a:r>
            <a:endParaRPr lang="en-US" sz="4400" dirty="0"/>
          </a:p>
          <a:p>
            <a:pPr algn="ctr" indent="0" marL="0">
              <a:buNone/>
            </a:pPr>
            <a:r>
              <a:rPr lang="en-US" sz="4000" b="1" dirty="0">
                <a:solidFill>
                  <a:srgbClr val="10B981"/>
                </a:solidFill>
                <a:latin typeface="Arial" pitchFamily="34" charset="0"/>
                <a:ea typeface="Arial" pitchFamily="34" charset="-122"/>
                <a:cs typeface="Arial" pitchFamily="34" charset="-120"/>
              </a:rPr>
              <a:t>لماذا لن يستبدلك الذكاء الاصطناعي؟</a:t>
            </a:r>
            <a:endParaRPr lang="en-US" sz="4400" dirty="0"/>
          </a:p>
        </p:txBody>
      </p:sp>
      <p:sp>
        <p:nvSpPr>
          <p:cNvPr id="4" name="Text 2"/>
          <p:cNvSpPr/>
          <p:nvPr/>
        </p:nvSpPr>
        <p:spPr>
          <a:xfrm>
            <a:off x="914400" y="3474720"/>
            <a:ext cx="7315200" cy="457200"/>
          </a:xfrm>
          <a:prstGeom prst="rect">
            <a:avLst/>
          </a:prstGeom>
          <a:noFill/>
          <a:ln/>
        </p:spPr>
        <p:txBody>
          <a:bodyPr wrap="square" rtlCol="0" anchor="ctr"/>
          <a:lstStyle/>
          <a:p>
            <a:pPr rtl="1" algn="ctr" indent="0" marL="0">
              <a:buNone/>
            </a:pPr>
            <a:r>
              <a:rPr lang="en-US" sz="1600" dirty="0">
                <a:solidFill>
                  <a:srgbClr val="94A3B8"/>
                </a:solidFill>
                <a:latin typeface="Arial" pitchFamily="34" charset="0"/>
                <a:ea typeface="Arial" pitchFamily="34" charset="-122"/>
                <a:cs typeface="Arial" pitchFamily="34" charset="-120"/>
              </a:rPr>
              <a:t>ورشة عمل توعوية وتكنولوجية لمهندسي البرمجيات</a:t>
            </a:r>
            <a:endParaRPr lang="en-US" sz="1600" dirty="0"/>
          </a:p>
        </p:txBody>
      </p:sp>
      <p:sp>
        <p:nvSpPr>
          <p:cNvPr id="5" name="Shape 3"/>
          <p:cNvSpPr/>
          <p:nvPr/>
        </p:nvSpPr>
        <p:spPr>
          <a:xfrm>
            <a:off x="7178040" y="4434840"/>
            <a:ext cx="54864" cy="594360"/>
          </a:xfrm>
          <a:prstGeom prst="rect">
            <a:avLst/>
          </a:prstGeom>
          <a:solidFill>
            <a:srgbClr val="10B981"/>
          </a:solidFill>
          <a:ln/>
        </p:spPr>
      </p:sp>
      <p:sp>
        <p:nvSpPr>
          <p:cNvPr id="6" name="Text 4"/>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رؤية نيفيديا: </a:t>
            </a:r>
            <a:pPr algn="r" indent="0" marL="0">
              <a:buNone/>
            </a:pPr>
            <a:r>
              <a:rPr lang="en-US" sz="2600" b="1" dirty="0">
                <a:solidFill>
                  <a:srgbClr val="10B981"/>
                </a:solidFill>
                <a:latin typeface="Arial" pitchFamily="34" charset="0"/>
                <a:ea typeface="Arial" pitchFamily="34" charset="-122"/>
                <a:cs typeface="Arial" pitchFamily="34" charset="-120"/>
              </a:rPr>
              <a:t>عصر المبرمج الشامل</a:t>
            </a:r>
            <a:endParaRPr lang="en-US" sz="2600" dirty="0"/>
          </a:p>
        </p:txBody>
      </p:sp>
      <p:sp>
        <p:nvSpPr>
          <p:cNvPr id="4" name="Shape 2"/>
          <p:cNvSpPr/>
          <p:nvPr/>
        </p:nvSpPr>
        <p:spPr>
          <a:xfrm>
            <a:off x="502920" y="1188720"/>
            <a:ext cx="54864" cy="2011680"/>
          </a:xfrm>
          <a:prstGeom prst="rect">
            <a:avLst/>
          </a:prstGeom>
          <a:solidFill>
            <a:srgbClr val="10B981"/>
          </a:solidFill>
          <a:ln/>
        </p:spPr>
      </p:sp>
      <p:sp>
        <p:nvSpPr>
          <p:cNvPr id="5" name="Text 3"/>
          <p:cNvSpPr/>
          <p:nvPr/>
        </p:nvSpPr>
        <p:spPr>
          <a:xfrm>
            <a:off x="685800" y="1188720"/>
            <a:ext cx="4572000" cy="2011680"/>
          </a:xfrm>
          <a:prstGeom prst="rect">
            <a:avLst/>
          </a:prstGeom>
          <a:noFill/>
          <a:ln/>
        </p:spPr>
        <p:txBody>
          <a:bodyPr wrap="square" rtlCol="0" anchor="ctr"/>
          <a:lstStyle/>
          <a:p>
            <a:pPr rtl="1" algn="r" indent="0" marL="0">
              <a:lnSpc>
                <a:spcPct val="130000"/>
              </a:lnSpc>
              <a:buNone/>
            </a:pPr>
            <a:r>
              <a:rPr lang="en-US" sz="1300" i="1" dirty="0">
                <a:solidFill>
                  <a:srgbClr val="E2E8F0"/>
                </a:solidFill>
                <a:latin typeface="Arial" pitchFamily="34" charset="0"/>
                <a:ea typeface="Arial" pitchFamily="34" charset="-122"/>
                <a:cs typeface="Arial" pitchFamily="34" charset="-120"/>
              </a:rPr>
              <a:t>"على مدى الـ 10 أو 15 سنة الماضية، كان الجميع يقول لكم: تعلّموا البرمجة وعلوم الحاسوب... لكن الحقيقة الآن هي العكس تماماً! مهمتنا هي تطوير تقنيات تجعل لا أحد يضطر إلى كتابة الأكواد، وأن تصبح لغة البرمجة هي اللغة البشرية العادية."</a:t>
            </a:r>
            <a:endParaRPr lang="en-US" sz="1300" dirty="0"/>
          </a:p>
        </p:txBody>
      </p:sp>
      <p:sp>
        <p:nvSpPr>
          <p:cNvPr id="6" name="Text 4"/>
          <p:cNvSpPr/>
          <p:nvPr/>
        </p:nvSpPr>
        <p:spPr>
          <a:xfrm>
            <a:off x="685800" y="3200400"/>
            <a:ext cx="4572000" cy="365760"/>
          </a:xfrm>
          <a:prstGeom prst="rect">
            <a:avLst/>
          </a:prstGeom>
          <a:noFill/>
          <a:ln/>
        </p:spPr>
        <p:txBody>
          <a:bodyPr wrap="square" rtlCol="0" anchor="ctr"/>
          <a:lstStyle/>
          <a:p>
            <a:pPr rtl="1" algn="r" indent="0" marL="0">
              <a:buNone/>
            </a:pPr>
            <a:r>
              <a:rPr lang="en-US" sz="1200" b="1" dirty="0">
                <a:solidFill>
                  <a:srgbClr val="10B981"/>
                </a:solidFill>
                <a:latin typeface="Arial" pitchFamily="34" charset="0"/>
                <a:ea typeface="Arial" pitchFamily="34" charset="-122"/>
                <a:cs typeface="Arial" pitchFamily="34" charset="-120"/>
              </a:rPr>
              <a:t>— جينسن هوانغ، الرئيس التنفيذي لشركة NVIDIA</a:t>
            </a:r>
            <a:endParaRPr lang="en-US" sz="1200" dirty="0"/>
          </a:p>
        </p:txBody>
      </p:sp>
      <p:sp>
        <p:nvSpPr>
          <p:cNvPr id="7" name="Shape 5"/>
          <p:cNvSpPr/>
          <p:nvPr/>
        </p:nvSpPr>
        <p:spPr>
          <a:xfrm>
            <a:off x="457200" y="3657600"/>
            <a:ext cx="4846320" cy="640080"/>
          </a:xfrm>
          <a:prstGeom prst="rect">
            <a:avLst/>
          </a:prstGeom>
          <a:solidFill>
            <a:srgbClr val="10B981">
              <a:alpha val="10000"/>
            </a:srgbClr>
          </a:solidFill>
          <a:ln/>
        </p:spPr>
      </p:sp>
      <p:sp>
        <p:nvSpPr>
          <p:cNvPr id="8" name="Shape 6"/>
          <p:cNvSpPr/>
          <p:nvPr/>
        </p:nvSpPr>
        <p:spPr>
          <a:xfrm>
            <a:off x="5248656" y="3657600"/>
            <a:ext cx="54864" cy="640080"/>
          </a:xfrm>
          <a:prstGeom prst="rect">
            <a:avLst/>
          </a:prstGeom>
          <a:solidFill>
            <a:srgbClr val="10B981"/>
          </a:solidFill>
          <a:ln/>
        </p:spPr>
      </p:sp>
      <p:sp>
        <p:nvSpPr>
          <p:cNvPr id="9" name="Text 7"/>
          <p:cNvSpPr/>
          <p:nvPr/>
        </p:nvSpPr>
        <p:spPr>
          <a:xfrm>
            <a:off x="548640" y="3657600"/>
            <a:ext cx="4663440" cy="640080"/>
          </a:xfrm>
          <a:prstGeom prst="rect">
            <a:avLst/>
          </a:prstGeom>
          <a:noFill/>
          <a:ln/>
        </p:spPr>
        <p:txBody>
          <a:bodyPr wrap="square" rtlCol="0" anchor="ctr"/>
          <a:lstStyle/>
          <a:p>
            <a:pPr rtl="1" algn="r" indent="0" marL="0">
              <a:buNone/>
            </a:pPr>
            <a:r>
              <a:rPr lang="en-US" sz="1100" dirty="0">
                <a:solidFill>
                  <a:srgbClr val="F8FAFC"/>
                </a:solidFill>
                <a:latin typeface="Arial" pitchFamily="34" charset="0"/>
                <a:ea typeface="Arial" pitchFamily="34" charset="-122"/>
                <a:cs typeface="Arial" pitchFamily="34" charset="-120"/>
              </a:rPr>
              <a:t>كل شخص في العالم الآن أصبح مبرمجاً بفضل القدرة على صياغة الأوامر باللغة البشرية الطبيعية — هذا هو المعجزة الحقيقية للذكاء الاصطناعي الحالي.</a:t>
            </a:r>
            <a:endParaRPr lang="en-US" sz="1100" dirty="0"/>
          </a:p>
        </p:txBody>
      </p:sp>
      <p:pic>
        <p:nvPicPr>
          <p:cNvPr id="10" name="Image 0" descr="/sessions/magical-eager-hopper/mnt/عرض/nvidia.jpg">    </p:cNvPr>
          <p:cNvPicPr>
            <a:picLocks noChangeAspect="1"/>
          </p:cNvPicPr>
          <p:nvPr/>
        </p:nvPicPr>
        <p:blipFill>
          <a:blip r:embed="rId1"/>
          <a:srcRect l="0" r="0" t="0" b="0"/>
          <a:stretch/>
        </p:blipFill>
        <p:spPr>
          <a:xfrm>
            <a:off x="5669280" y="1097280"/>
            <a:ext cx="3017520" cy="3474720"/>
          </a:xfrm>
          <a:prstGeom prst="rect">
            <a:avLst/>
          </a:prstGeom>
        </p:spPr>
      </p:pic>
      <p:sp>
        <p:nvSpPr>
          <p:cNvPr id="11" name="Shape 8"/>
          <p:cNvSpPr/>
          <p:nvPr/>
        </p:nvSpPr>
        <p:spPr>
          <a:xfrm>
            <a:off x="7178040" y="4434840"/>
            <a:ext cx="54864" cy="594360"/>
          </a:xfrm>
          <a:prstGeom prst="rect">
            <a:avLst/>
          </a:prstGeom>
          <a:solidFill>
            <a:srgbClr val="10B981"/>
          </a:solidFill>
          <a:ln/>
        </p:spPr>
      </p:sp>
      <p:sp>
        <p:nvSpPr>
          <p:cNvPr id="12" name="Text 9"/>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الحقيقة خلف الأرقام: </a:t>
            </a:r>
            <a:pPr algn="r" indent="0" marL="0">
              <a:buNone/>
            </a:pPr>
            <a:r>
              <a:rPr lang="en-US" sz="2600" b="1" dirty="0">
                <a:solidFill>
                  <a:srgbClr val="10B981"/>
                </a:solidFill>
                <a:latin typeface="Arial" pitchFamily="34" charset="0"/>
                <a:ea typeface="Arial" pitchFamily="34" charset="-122"/>
                <a:cs typeface="Arial" pitchFamily="34" charset="-120"/>
              </a:rPr>
              <a:t>زلزال التسريحات وعقدة الـ Washing</a:t>
            </a:r>
            <a:endParaRPr lang="en-US" sz="2600" dirty="0"/>
          </a:p>
        </p:txBody>
      </p:sp>
      <p:sp>
        <p:nvSpPr>
          <p:cNvPr id="4" name="Text 2"/>
          <p:cNvSpPr/>
          <p:nvPr/>
        </p:nvSpPr>
        <p:spPr>
          <a:xfrm>
            <a:off x="457200" y="1097280"/>
            <a:ext cx="4572000" cy="731520"/>
          </a:xfrm>
          <a:prstGeom prst="rect">
            <a:avLst/>
          </a:prstGeom>
          <a:noFill/>
          <a:ln/>
        </p:spPr>
        <p:txBody>
          <a:bodyPr wrap="square" rtlCol="0" anchor="ctr"/>
          <a:lstStyle/>
          <a:p>
            <a:pPr rtl="1" algn="r" indent="0" marL="0">
              <a:lnSpc>
                <a:spcPct val="120000"/>
              </a:lnSpc>
              <a:buNone/>
            </a:pPr>
            <a:r>
              <a:rPr lang="en-US" sz="1200" dirty="0">
                <a:solidFill>
                  <a:srgbClr val="F8FAFC"/>
                </a:solidFill>
                <a:latin typeface="Arial" pitchFamily="34" charset="0"/>
                <a:ea typeface="Arial" pitchFamily="34" charset="-122"/>
                <a:cs typeface="Arial" pitchFamily="34" charset="-120"/>
              </a:rPr>
              <a:t>منذ بداية عام 2026 وحتى الآن، فقد أكثر من 92,000 موظف تقني وظائفهم حول العالم، بينما يقترب الرقم الإجمالي منذ عام 2020 من حاجز الـ 900 ألف موظف تقني.</a:t>
            </a:r>
            <a:endParaRPr lang="en-US" sz="1200" dirty="0"/>
          </a:p>
        </p:txBody>
      </p:sp>
      <p:sp>
        <p:nvSpPr>
          <p:cNvPr id="5" name="Text 3"/>
          <p:cNvSpPr/>
          <p:nvPr/>
        </p:nvSpPr>
        <p:spPr>
          <a:xfrm>
            <a:off x="457200" y="1965960"/>
            <a:ext cx="4572000" cy="228600"/>
          </a:xfrm>
          <a:prstGeom prst="rect">
            <a:avLst/>
          </a:prstGeom>
          <a:noFill/>
          <a:ln/>
        </p:spPr>
        <p:txBody>
          <a:bodyPr wrap="square" rtlCol="0" anchor="ctr"/>
          <a:lstStyle/>
          <a:p>
            <a:pPr rtl="1" algn="r" indent="0" marL="0">
              <a:buNone/>
            </a:pPr>
            <a:r>
              <a:rPr lang="en-US" sz="1000" b="1" dirty="0">
                <a:solidFill>
                  <a:srgbClr val="F8FAFC"/>
                </a:solidFill>
                <a:latin typeface="Arial" pitchFamily="34" charset="0"/>
                <a:ea typeface="Arial" pitchFamily="34" charset="-122"/>
                <a:cs typeface="Arial" pitchFamily="34" charset="-120"/>
              </a:rPr>
              <a:t>Amazon (أكثر من 30,000 وظيفة منذ 2025)  —  85%</a:t>
            </a:r>
            <a:endParaRPr lang="en-US" sz="1000" dirty="0"/>
          </a:p>
        </p:txBody>
      </p:sp>
      <p:sp>
        <p:nvSpPr>
          <p:cNvPr id="6" name="Shape 4"/>
          <p:cNvSpPr/>
          <p:nvPr/>
        </p:nvSpPr>
        <p:spPr>
          <a:xfrm>
            <a:off x="457200" y="2194560"/>
            <a:ext cx="4572000" cy="109728"/>
          </a:xfrm>
          <a:prstGeom prst="rect">
            <a:avLst/>
          </a:prstGeom>
          <a:solidFill>
            <a:srgbClr val="1E293B"/>
          </a:solidFill>
          <a:ln/>
        </p:spPr>
      </p:sp>
      <p:sp>
        <p:nvSpPr>
          <p:cNvPr id="7" name="Shape 5"/>
          <p:cNvSpPr/>
          <p:nvPr/>
        </p:nvSpPr>
        <p:spPr>
          <a:xfrm>
            <a:off x="457200" y="2194560"/>
            <a:ext cx="3886200" cy="109728"/>
          </a:xfrm>
          <a:prstGeom prst="rect">
            <a:avLst/>
          </a:prstGeom>
          <a:solidFill>
            <a:srgbClr val="10B981"/>
          </a:solidFill>
          <a:ln/>
        </p:spPr>
      </p:sp>
      <p:sp>
        <p:nvSpPr>
          <p:cNvPr id="8" name="Text 6"/>
          <p:cNvSpPr/>
          <p:nvPr/>
        </p:nvSpPr>
        <p:spPr>
          <a:xfrm>
            <a:off x="457200" y="2468880"/>
            <a:ext cx="4572000" cy="228600"/>
          </a:xfrm>
          <a:prstGeom prst="rect">
            <a:avLst/>
          </a:prstGeom>
          <a:noFill/>
          <a:ln/>
        </p:spPr>
        <p:txBody>
          <a:bodyPr wrap="square" rtlCol="0" anchor="ctr"/>
          <a:lstStyle/>
          <a:p>
            <a:pPr rtl="1" algn="r" indent="0" marL="0">
              <a:buNone/>
            </a:pPr>
            <a:r>
              <a:rPr lang="en-US" sz="1000" b="1" dirty="0">
                <a:solidFill>
                  <a:srgbClr val="F8FAFC"/>
                </a:solidFill>
                <a:latin typeface="Arial" pitchFamily="34" charset="0"/>
                <a:ea typeface="Arial" pitchFamily="34" charset="-122"/>
                <a:cs typeface="Arial" pitchFamily="34" charset="-120"/>
              </a:rPr>
              <a:t>Oracle (أكثر من 10,000 موظف بهدوء تام)  —  65%</a:t>
            </a:r>
            <a:endParaRPr lang="en-US" sz="1000" dirty="0"/>
          </a:p>
        </p:txBody>
      </p:sp>
      <p:sp>
        <p:nvSpPr>
          <p:cNvPr id="9" name="Shape 7"/>
          <p:cNvSpPr/>
          <p:nvPr/>
        </p:nvSpPr>
        <p:spPr>
          <a:xfrm>
            <a:off x="457200" y="2697480"/>
            <a:ext cx="4572000" cy="109728"/>
          </a:xfrm>
          <a:prstGeom prst="rect">
            <a:avLst/>
          </a:prstGeom>
          <a:solidFill>
            <a:srgbClr val="1E293B"/>
          </a:solidFill>
          <a:ln/>
        </p:spPr>
      </p:sp>
      <p:sp>
        <p:nvSpPr>
          <p:cNvPr id="10" name="Shape 8"/>
          <p:cNvSpPr/>
          <p:nvPr/>
        </p:nvSpPr>
        <p:spPr>
          <a:xfrm>
            <a:off x="457200" y="2697480"/>
            <a:ext cx="2971800" cy="109728"/>
          </a:xfrm>
          <a:prstGeom prst="rect">
            <a:avLst/>
          </a:prstGeom>
          <a:solidFill>
            <a:srgbClr val="10B981"/>
          </a:solidFill>
          <a:ln/>
        </p:spPr>
      </p:sp>
      <p:sp>
        <p:nvSpPr>
          <p:cNvPr id="11" name="Text 9"/>
          <p:cNvSpPr/>
          <p:nvPr/>
        </p:nvSpPr>
        <p:spPr>
          <a:xfrm>
            <a:off x="457200" y="2971800"/>
            <a:ext cx="4572000" cy="228600"/>
          </a:xfrm>
          <a:prstGeom prst="rect">
            <a:avLst/>
          </a:prstGeom>
          <a:noFill/>
          <a:ln/>
        </p:spPr>
        <p:txBody>
          <a:bodyPr wrap="square" rtlCol="0" anchor="ctr"/>
          <a:lstStyle/>
          <a:p>
            <a:pPr rtl="1" algn="r" indent="0" marL="0">
              <a:buNone/>
            </a:pPr>
            <a:r>
              <a:rPr lang="en-US" sz="1000" b="1" dirty="0">
                <a:solidFill>
                  <a:srgbClr val="F8FAFC"/>
                </a:solidFill>
                <a:latin typeface="Arial" pitchFamily="34" charset="0"/>
                <a:ea typeface="Arial" pitchFamily="34" charset="-122"/>
                <a:cs typeface="Arial" pitchFamily="34" charset="-120"/>
              </a:rPr>
              <a:t>Meta (8,000 موظف + تجميد آلاف الوظائف)  —  50%</a:t>
            </a:r>
            <a:endParaRPr lang="en-US" sz="1000" dirty="0"/>
          </a:p>
        </p:txBody>
      </p:sp>
      <p:sp>
        <p:nvSpPr>
          <p:cNvPr id="12" name="Shape 10"/>
          <p:cNvSpPr/>
          <p:nvPr/>
        </p:nvSpPr>
        <p:spPr>
          <a:xfrm>
            <a:off x="457200" y="3200400"/>
            <a:ext cx="4572000" cy="109728"/>
          </a:xfrm>
          <a:prstGeom prst="rect">
            <a:avLst/>
          </a:prstGeom>
          <a:solidFill>
            <a:srgbClr val="1E293B"/>
          </a:solidFill>
          <a:ln/>
        </p:spPr>
      </p:sp>
      <p:sp>
        <p:nvSpPr>
          <p:cNvPr id="13" name="Shape 11"/>
          <p:cNvSpPr/>
          <p:nvPr/>
        </p:nvSpPr>
        <p:spPr>
          <a:xfrm>
            <a:off x="457200" y="3200400"/>
            <a:ext cx="2286000" cy="109728"/>
          </a:xfrm>
          <a:prstGeom prst="rect">
            <a:avLst/>
          </a:prstGeom>
          <a:solidFill>
            <a:srgbClr val="10B981"/>
          </a:solidFill>
          <a:ln/>
        </p:spPr>
      </p:sp>
      <p:sp>
        <p:nvSpPr>
          <p:cNvPr id="14" name="Shape 12"/>
          <p:cNvSpPr/>
          <p:nvPr/>
        </p:nvSpPr>
        <p:spPr>
          <a:xfrm>
            <a:off x="5303520" y="1097280"/>
            <a:ext cx="3474720" cy="1463040"/>
          </a:xfrm>
          <a:prstGeom prst="rect">
            <a:avLst/>
          </a:prstGeom>
          <a:solidFill>
            <a:srgbClr val="EF4444">
              <a:alpha val="8000"/>
            </a:srgbClr>
          </a:solidFill>
          <a:ln/>
        </p:spPr>
      </p:sp>
      <p:sp>
        <p:nvSpPr>
          <p:cNvPr id="15" name="Shape 13"/>
          <p:cNvSpPr/>
          <p:nvPr/>
        </p:nvSpPr>
        <p:spPr>
          <a:xfrm>
            <a:off x="8723376" y="1097280"/>
            <a:ext cx="54864" cy="1463040"/>
          </a:xfrm>
          <a:prstGeom prst="rect">
            <a:avLst/>
          </a:prstGeom>
          <a:solidFill>
            <a:srgbClr val="EF4444"/>
          </a:solidFill>
          <a:ln/>
        </p:spPr>
      </p:sp>
      <p:sp>
        <p:nvSpPr>
          <p:cNvPr id="16" name="Text 14"/>
          <p:cNvSpPr/>
          <p:nvPr/>
        </p:nvSpPr>
        <p:spPr>
          <a:xfrm>
            <a:off x="5394960" y="1143000"/>
            <a:ext cx="3200400" cy="1371600"/>
          </a:xfrm>
          <a:prstGeom prst="rect">
            <a:avLst/>
          </a:prstGeom>
          <a:noFill/>
          <a:ln/>
        </p:spPr>
        <p:txBody>
          <a:bodyPr wrap="square" rtlCol="0" anchor="t"/>
          <a:lstStyle/>
          <a:p>
            <a:pPr algn="r" indent="0" marL="0">
              <a:lnSpc>
                <a:spcPct val="120000"/>
              </a:lnSpc>
              <a:buNone/>
            </a:pPr>
            <a:r>
              <a:rPr lang="en-US" sz="1300" b="1" dirty="0">
                <a:solidFill>
                  <a:srgbClr val="EF4444"/>
                </a:solidFill>
                <a:latin typeface="Arial" pitchFamily="34" charset="0"/>
                <a:ea typeface="Arial" pitchFamily="34" charset="-122"/>
                <a:cs typeface="Arial" pitchFamily="34" charset="-120"/>
              </a:rPr>
              <a:t>معضلة الـ AI Washing
</a:t>
            </a:r>
            <a:endParaRPr lang="en-US" sz="1300" dirty="0"/>
          </a:p>
          <a:p>
            <a:pPr algn="r" indent="0" marL="0">
              <a:lnSpc>
                <a:spcPct val="120000"/>
              </a:lnSpc>
              <a:buNone/>
            </a:pPr>
            <a:r>
              <a:rPr lang="en-US" sz="1000" dirty="0">
                <a:solidFill>
                  <a:srgbClr val="F8FAFC"/>
                </a:solidFill>
                <a:latin typeface="Arial" pitchFamily="34" charset="0"/>
                <a:ea typeface="Arial" pitchFamily="34" charset="-122"/>
                <a:cs typeface="Arial" pitchFamily="34" charset="-120"/>
              </a:rPr>
              <a:t>الأخطر هو أن 47.9% من تسريحات 2026 كان سببها المعلن هو "الاستغناء لصالح AI". الحقيقة؟ الشركات تستخدم الذكاء الاصطناعي كشماعة لتغطية قرارات خاطئة وتضخم توظيف حدث بعد كورونا!</a:t>
            </a:r>
            <a:endParaRPr lang="en-US" sz="1300" dirty="0"/>
          </a:p>
        </p:txBody>
      </p:sp>
      <p:sp>
        <p:nvSpPr>
          <p:cNvPr id="17" name="Shape 15"/>
          <p:cNvSpPr/>
          <p:nvPr/>
        </p:nvSpPr>
        <p:spPr>
          <a:xfrm>
            <a:off x="5303520" y="2743200"/>
            <a:ext cx="3474720" cy="1097280"/>
          </a:xfrm>
          <a:prstGeom prst="rect">
            <a:avLst/>
          </a:prstGeom>
          <a:solidFill>
            <a:srgbClr val="38BDF8">
              <a:alpha val="6000"/>
            </a:srgbClr>
          </a:solidFill>
          <a:ln/>
        </p:spPr>
      </p:sp>
      <p:sp>
        <p:nvSpPr>
          <p:cNvPr id="18" name="Shape 16"/>
          <p:cNvSpPr/>
          <p:nvPr/>
        </p:nvSpPr>
        <p:spPr>
          <a:xfrm>
            <a:off x="8723376" y="2743200"/>
            <a:ext cx="54864" cy="1097280"/>
          </a:xfrm>
          <a:prstGeom prst="rect">
            <a:avLst/>
          </a:prstGeom>
          <a:solidFill>
            <a:srgbClr val="38BDF8"/>
          </a:solidFill>
          <a:ln/>
        </p:spPr>
      </p:sp>
      <p:sp>
        <p:nvSpPr>
          <p:cNvPr id="19" name="Text 17"/>
          <p:cNvSpPr/>
          <p:nvPr/>
        </p:nvSpPr>
        <p:spPr>
          <a:xfrm>
            <a:off x="5394960" y="2788920"/>
            <a:ext cx="3200400" cy="1005840"/>
          </a:xfrm>
          <a:prstGeom prst="rect">
            <a:avLst/>
          </a:prstGeom>
          <a:noFill/>
          <a:ln/>
        </p:spPr>
        <p:txBody>
          <a:bodyPr wrap="square" rtlCol="0" anchor="t"/>
          <a:lstStyle/>
          <a:p>
            <a:pPr algn="r" indent="0" marL="0">
              <a:lnSpc>
                <a:spcPct val="120000"/>
              </a:lnSpc>
              <a:buNone/>
            </a:pPr>
            <a:r>
              <a:rPr lang="en-US" sz="1000" i="1" dirty="0">
                <a:solidFill>
                  <a:srgbClr val="F8FAFC"/>
                </a:solidFill>
                <a:latin typeface="Arial" pitchFamily="34" charset="0"/>
                <a:ea typeface="Arial" pitchFamily="34" charset="-122"/>
                <a:cs typeface="Arial" pitchFamily="34" charset="-120"/>
              </a:rPr>
              <a:t>"هناك الكثير من الشركات التي تلوم الذكاء الاصطناعي على قرارات تسريح موظفين كانت ستحدث في كل الأحوال كإجراء تصحيحي لها."
</a:t>
            </a:r>
            <a:endParaRPr lang="en-US" sz="1000" dirty="0"/>
          </a:p>
          <a:p>
            <a:pPr algn="r" indent="0" marL="0">
              <a:lnSpc>
                <a:spcPct val="120000"/>
              </a:lnSpc>
              <a:buNone/>
            </a:pPr>
            <a:r>
              <a:rPr lang="en-US" sz="1000" b="1" dirty="0">
                <a:solidFill>
                  <a:srgbClr val="38BDF8"/>
                </a:solidFill>
                <a:latin typeface="Arial" pitchFamily="34" charset="0"/>
                <a:ea typeface="Arial" pitchFamily="34" charset="-122"/>
                <a:cs typeface="Arial" pitchFamily="34" charset="-120"/>
              </a:rPr>
              <a:t>— Sam Altman, OpenAI</a:t>
            </a:r>
            <a:endParaRPr lang="en-US" sz="1000" dirty="0"/>
          </a:p>
        </p:txBody>
      </p:sp>
      <p:sp>
        <p:nvSpPr>
          <p:cNvPr id="20" name="Shape 18"/>
          <p:cNvSpPr/>
          <p:nvPr/>
        </p:nvSpPr>
        <p:spPr>
          <a:xfrm>
            <a:off x="7178040" y="4434840"/>
            <a:ext cx="54864" cy="594360"/>
          </a:xfrm>
          <a:prstGeom prst="rect">
            <a:avLst/>
          </a:prstGeom>
          <a:solidFill>
            <a:srgbClr val="10B981"/>
          </a:solidFill>
          <a:ln/>
        </p:spPr>
      </p:sp>
      <p:sp>
        <p:nvSpPr>
          <p:cNvPr id="21" name="Text 19"/>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617"/>
        </a:solidFill>
      </p:bgPr>
    </p:bg>
    <p:spTree>
      <p:nvGrpSpPr>
        <p:cNvPr id="1" name=""/>
        <p:cNvGrpSpPr/>
        <p:nvPr/>
      </p:nvGrpSpPr>
      <p:grpSpPr>
        <a:xfrm>
          <a:off x="0" y="0"/>
          <a:ext cx="0" cy="0"/>
          <a:chOff x="0" y="0"/>
          <a:chExt cx="0" cy="0"/>
        </a:xfrm>
      </p:grpSpPr>
      <p:sp>
        <p:nvSpPr>
          <p:cNvPr id="2" name="Text 0"/>
          <p:cNvSpPr/>
          <p:nvPr/>
        </p:nvSpPr>
        <p:spPr>
          <a:xfrm>
            <a:off x="457200" y="731520"/>
            <a:ext cx="8229600" cy="2743200"/>
          </a:xfrm>
          <a:prstGeom prst="rect">
            <a:avLst/>
          </a:prstGeom>
          <a:noFill/>
          <a:ln/>
        </p:spPr>
        <p:txBody>
          <a:bodyPr wrap="square" rtlCol="0" anchor="ctr"/>
          <a:lstStyle/>
          <a:p>
            <a:pPr algn="ctr" indent="0" marL="0">
              <a:buNone/>
            </a:pPr>
            <a:r>
              <a:rPr lang="en-US" sz="4000" b="1" dirty="0">
                <a:solidFill>
                  <a:srgbClr val="F8FAFC"/>
                </a:solidFill>
                <a:latin typeface="Arial" pitchFamily="34" charset="0"/>
                <a:ea typeface="Arial" pitchFamily="34" charset="-122"/>
                <a:cs typeface="Arial" pitchFamily="34" charset="-120"/>
              </a:rPr>
              <a:t>مين فيكم...
</a:t>
            </a:r>
            <a:endParaRPr lang="en-US" sz="4000" dirty="0"/>
          </a:p>
          <a:p>
            <a:pPr algn="ctr" indent="0" marL="0">
              <a:buNone/>
            </a:pPr>
            <a:r>
              <a:rPr lang="en-US" sz="4000" b="1" dirty="0">
                <a:solidFill>
                  <a:srgbClr val="EF4444"/>
                </a:solidFill>
                <a:latin typeface="Arial" pitchFamily="34" charset="0"/>
                <a:ea typeface="Arial" pitchFamily="34" charset="-122"/>
                <a:cs typeface="Arial" pitchFamily="34" charset="-120"/>
              </a:rPr>
              <a:t>كره التخصص</a:t>
            </a:r>
            <a:pPr algn="ctr" indent="0" marL="0">
              <a:buNone/>
            </a:pPr>
            <a:r>
              <a:rPr lang="en-US" sz="4000" b="1" dirty="0">
                <a:solidFill>
                  <a:srgbClr val="F8FAFC"/>
                </a:solidFill>
                <a:latin typeface="Arial" pitchFamily="34" charset="0"/>
                <a:ea typeface="Arial" pitchFamily="34" charset="-122"/>
                <a:cs typeface="Arial" pitchFamily="34" charset="-120"/>
              </a:rPr>
              <a:t> بعد ما سمع
</a:t>
            </a:r>
            <a:endParaRPr lang="en-US" sz="4000" dirty="0"/>
          </a:p>
          <a:p>
            <a:pPr algn="ctr" indent="0" marL="0">
              <a:buNone/>
            </a:pPr>
            <a:r>
              <a:rPr lang="en-US" sz="4000" b="1" dirty="0">
                <a:solidFill>
                  <a:srgbClr val="F8FAFC"/>
                </a:solidFill>
                <a:latin typeface="Arial" pitchFamily="34" charset="0"/>
                <a:ea typeface="Arial" pitchFamily="34" charset="-122"/>
                <a:cs typeface="Arial" pitchFamily="34" charset="-120"/>
              </a:rPr>
              <a:t>زي هاد الكلام؟</a:t>
            </a:r>
            <a:endParaRPr lang="en-US" sz="4000" dirty="0"/>
          </a:p>
        </p:txBody>
      </p:sp>
      <p:sp>
        <p:nvSpPr>
          <p:cNvPr id="3" name="Text 1"/>
          <p:cNvSpPr/>
          <p:nvPr/>
        </p:nvSpPr>
        <p:spPr>
          <a:xfrm>
            <a:off x="914400" y="3657600"/>
            <a:ext cx="7315200" cy="457200"/>
          </a:xfrm>
          <a:prstGeom prst="rect">
            <a:avLst/>
          </a:prstGeom>
          <a:noFill/>
          <a:ln/>
        </p:spPr>
        <p:txBody>
          <a:bodyPr wrap="square" rtlCol="0" anchor="ctr"/>
          <a:lstStyle/>
          <a:p>
            <a:pPr rtl="1" algn="ctr" indent="0" marL="0">
              <a:buNone/>
            </a:pPr>
            <a:r>
              <a:rPr lang="en-US" sz="1800" dirty="0">
                <a:solidFill>
                  <a:srgbClr val="94A3B8"/>
                </a:solidFill>
                <a:latin typeface="Arial" pitchFamily="34" charset="0"/>
                <a:ea typeface="Arial" pitchFamily="34" charset="-122"/>
                <a:cs typeface="Arial" pitchFamily="34" charset="-120"/>
              </a:rPr>
              <a:t>أو حسّ إنه أثّر عليه أو على طموحه بشكل سلبي؟</a:t>
            </a:r>
            <a:endParaRPr lang="en-US" sz="1800" dirty="0"/>
          </a:p>
        </p:txBody>
      </p:sp>
      <p:sp>
        <p:nvSpPr>
          <p:cNvPr id="4" name="Shape 2"/>
          <p:cNvSpPr/>
          <p:nvPr/>
        </p:nvSpPr>
        <p:spPr>
          <a:xfrm>
            <a:off x="7178040" y="4434840"/>
            <a:ext cx="54864" cy="594360"/>
          </a:xfrm>
          <a:prstGeom prst="rect">
            <a:avLst/>
          </a:prstGeom>
          <a:solidFill>
            <a:srgbClr val="10B981"/>
          </a:solidFill>
          <a:ln/>
        </p:spPr>
      </p:sp>
      <p:sp>
        <p:nvSpPr>
          <p:cNvPr id="5" name="Text 3"/>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التحديات الثلاثة الكبرى: </a:t>
            </a:r>
            <a:pPr algn="r" indent="0" marL="0">
              <a:buNone/>
            </a:pPr>
            <a:r>
              <a:rPr lang="en-US" sz="2600" b="1" dirty="0">
                <a:solidFill>
                  <a:srgbClr val="10B981"/>
                </a:solidFill>
                <a:latin typeface="Arial" pitchFamily="34" charset="0"/>
                <a:ea typeface="Arial" pitchFamily="34" charset="-122"/>
                <a:cs typeface="Arial" pitchFamily="34" charset="-120"/>
              </a:rPr>
              <a:t>بوصلة الوعي للمهندس العصري</a:t>
            </a:r>
            <a:endParaRPr lang="en-US" sz="2600" dirty="0"/>
          </a:p>
        </p:txBody>
      </p:sp>
      <p:sp>
        <p:nvSpPr>
          <p:cNvPr id="4" name="Shape 2"/>
          <p:cNvSpPr/>
          <p:nvPr/>
        </p:nvSpPr>
        <p:spPr>
          <a:xfrm>
            <a:off x="457200" y="1280160"/>
            <a:ext cx="2606040" cy="2926080"/>
          </a:xfrm>
          <a:prstGeom prst="rect">
            <a:avLst/>
          </a:prstGeom>
          <a:solidFill>
            <a:srgbClr val="1E293B">
              <a:alpha val="40000"/>
            </a:srgbClr>
          </a:solidFill>
          <a:ln/>
        </p:spPr>
      </p:sp>
      <p:sp>
        <p:nvSpPr>
          <p:cNvPr id="5" name="Shape 3"/>
          <p:cNvSpPr/>
          <p:nvPr/>
        </p:nvSpPr>
        <p:spPr>
          <a:xfrm>
            <a:off x="457200" y="4151376"/>
            <a:ext cx="2606040" cy="54864"/>
          </a:xfrm>
          <a:prstGeom prst="rect">
            <a:avLst/>
          </a:prstGeom>
          <a:solidFill>
            <a:srgbClr val="10B981"/>
          </a:solidFill>
          <a:ln/>
        </p:spPr>
      </p:sp>
      <p:sp>
        <p:nvSpPr>
          <p:cNvPr id="6" name="Text 4"/>
          <p:cNvSpPr/>
          <p:nvPr/>
        </p:nvSpPr>
        <p:spPr>
          <a:xfrm>
            <a:off x="594360" y="1463040"/>
            <a:ext cx="2331720" cy="45720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01 - الكود الأعمى</a:t>
            </a:r>
            <a:endParaRPr lang="en-US" sz="1600" dirty="0"/>
          </a:p>
        </p:txBody>
      </p:sp>
      <p:sp>
        <p:nvSpPr>
          <p:cNvPr id="7" name="Text 5"/>
          <p:cNvSpPr/>
          <p:nvPr/>
        </p:nvSpPr>
        <p:spPr>
          <a:xfrm>
            <a:off x="594360" y="2011680"/>
            <a:ext cx="2331720" cy="1920240"/>
          </a:xfrm>
          <a:prstGeom prst="rect">
            <a:avLst/>
          </a:prstGeom>
          <a:noFill/>
          <a:ln/>
        </p:spPr>
        <p:txBody>
          <a:bodyPr wrap="square" rtlCol="0" anchor="t"/>
          <a:lstStyle/>
          <a:p>
            <a:pPr rtl="1" algn="r" indent="0" marL="0">
              <a:lnSpc>
                <a:spcPct val="130000"/>
              </a:lnSpc>
              <a:buNone/>
            </a:pPr>
            <a:r>
              <a:rPr lang="en-US" sz="1100" dirty="0">
                <a:solidFill>
                  <a:srgbClr val="94A3B8"/>
                </a:solidFill>
                <a:latin typeface="Arial" pitchFamily="34" charset="0"/>
                <a:ea typeface="Arial" pitchFamily="34" charset="-122"/>
                <a:cs typeface="Arial" pitchFamily="34" charset="-120"/>
              </a:rPr>
              <a:t>الفرق الجوهري بين كاتب كود ينسخ بشكل أعمى، وبين مهندس حقيقي يفهم السياق والمسؤولية المنطقية.</a:t>
            </a:r>
            <a:endParaRPr lang="en-US" sz="1100" dirty="0"/>
          </a:p>
        </p:txBody>
      </p:sp>
      <p:sp>
        <p:nvSpPr>
          <p:cNvPr id="8" name="Shape 6"/>
          <p:cNvSpPr/>
          <p:nvPr/>
        </p:nvSpPr>
        <p:spPr>
          <a:xfrm>
            <a:off x="3337560" y="1280160"/>
            <a:ext cx="2606040" cy="2926080"/>
          </a:xfrm>
          <a:prstGeom prst="rect">
            <a:avLst/>
          </a:prstGeom>
          <a:solidFill>
            <a:srgbClr val="1E293B">
              <a:alpha val="40000"/>
            </a:srgbClr>
          </a:solidFill>
          <a:ln/>
        </p:spPr>
      </p:sp>
      <p:sp>
        <p:nvSpPr>
          <p:cNvPr id="9" name="Shape 7"/>
          <p:cNvSpPr/>
          <p:nvPr/>
        </p:nvSpPr>
        <p:spPr>
          <a:xfrm>
            <a:off x="3337560" y="4151376"/>
            <a:ext cx="2606040" cy="54864"/>
          </a:xfrm>
          <a:prstGeom prst="rect">
            <a:avLst/>
          </a:prstGeom>
          <a:solidFill>
            <a:srgbClr val="38BDF8"/>
          </a:solidFill>
          <a:ln/>
        </p:spPr>
      </p:sp>
      <p:sp>
        <p:nvSpPr>
          <p:cNvPr id="10" name="Text 8"/>
          <p:cNvSpPr/>
          <p:nvPr/>
        </p:nvSpPr>
        <p:spPr>
          <a:xfrm>
            <a:off x="3474720" y="1463040"/>
            <a:ext cx="2331720" cy="45720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02 - كود السباغيتي</a:t>
            </a:r>
            <a:endParaRPr lang="en-US" sz="1600" dirty="0"/>
          </a:p>
        </p:txBody>
      </p:sp>
      <p:sp>
        <p:nvSpPr>
          <p:cNvPr id="11" name="Text 9"/>
          <p:cNvSpPr/>
          <p:nvPr/>
        </p:nvSpPr>
        <p:spPr>
          <a:xfrm>
            <a:off x="3474720" y="2011680"/>
            <a:ext cx="2331720" cy="1920240"/>
          </a:xfrm>
          <a:prstGeom prst="rect">
            <a:avLst/>
          </a:prstGeom>
          <a:noFill/>
          <a:ln/>
        </p:spPr>
        <p:txBody>
          <a:bodyPr wrap="square" rtlCol="0" anchor="t"/>
          <a:lstStyle/>
          <a:p>
            <a:pPr rtl="1" algn="r" indent="0" marL="0">
              <a:lnSpc>
                <a:spcPct val="130000"/>
              </a:lnSpc>
              <a:buNone/>
            </a:pPr>
            <a:r>
              <a:rPr lang="en-US" sz="1100" dirty="0">
                <a:solidFill>
                  <a:srgbClr val="94A3B8"/>
                </a:solidFill>
                <a:latin typeface="Arial" pitchFamily="34" charset="0"/>
                <a:ea typeface="Arial" pitchFamily="34" charset="-122"/>
                <a:cs typeface="Arial" pitchFamily="34" charset="-120"/>
              </a:rPr>
              <a:t>عشوائية البناء البرمجي؛ أكواد برمجية تعمل في ظاهرها للحظة الحالية، وتنهار بالكامل غداً عند أول تعديل.</a:t>
            </a:r>
            <a:endParaRPr lang="en-US" sz="1100" dirty="0"/>
          </a:p>
        </p:txBody>
      </p:sp>
      <p:sp>
        <p:nvSpPr>
          <p:cNvPr id="12" name="Shape 10"/>
          <p:cNvSpPr/>
          <p:nvPr/>
        </p:nvSpPr>
        <p:spPr>
          <a:xfrm>
            <a:off x="6217920" y="1280160"/>
            <a:ext cx="2606040" cy="2926080"/>
          </a:xfrm>
          <a:prstGeom prst="rect">
            <a:avLst/>
          </a:prstGeom>
          <a:solidFill>
            <a:srgbClr val="1E293B">
              <a:alpha val="40000"/>
            </a:srgbClr>
          </a:solidFill>
          <a:ln/>
        </p:spPr>
      </p:sp>
      <p:sp>
        <p:nvSpPr>
          <p:cNvPr id="13" name="Shape 11"/>
          <p:cNvSpPr/>
          <p:nvPr/>
        </p:nvSpPr>
        <p:spPr>
          <a:xfrm>
            <a:off x="6217920" y="4151376"/>
            <a:ext cx="2606040" cy="54864"/>
          </a:xfrm>
          <a:prstGeom prst="rect">
            <a:avLst/>
          </a:prstGeom>
          <a:solidFill>
            <a:srgbClr val="FACC15"/>
          </a:solidFill>
          <a:ln/>
        </p:spPr>
      </p:sp>
      <p:sp>
        <p:nvSpPr>
          <p:cNvPr id="14" name="Text 12"/>
          <p:cNvSpPr/>
          <p:nvPr/>
        </p:nvSpPr>
        <p:spPr>
          <a:xfrm>
            <a:off x="6355080" y="1463040"/>
            <a:ext cx="2331720" cy="45720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03 - الخوف من البطء</a:t>
            </a:r>
            <a:endParaRPr lang="en-US" sz="1600" dirty="0"/>
          </a:p>
        </p:txBody>
      </p:sp>
      <p:sp>
        <p:nvSpPr>
          <p:cNvPr id="15" name="Text 13"/>
          <p:cNvSpPr/>
          <p:nvPr/>
        </p:nvSpPr>
        <p:spPr>
          <a:xfrm>
            <a:off x="6355080" y="2011680"/>
            <a:ext cx="2331720" cy="1920240"/>
          </a:xfrm>
          <a:prstGeom prst="rect">
            <a:avLst/>
          </a:prstGeom>
          <a:noFill/>
          <a:ln/>
        </p:spPr>
        <p:txBody>
          <a:bodyPr wrap="square" rtlCol="0" anchor="t"/>
          <a:lstStyle/>
          <a:p>
            <a:pPr rtl="1" algn="r" indent="0" marL="0">
              <a:lnSpc>
                <a:spcPct val="130000"/>
              </a:lnSpc>
              <a:buNone/>
            </a:pPr>
            <a:r>
              <a:rPr lang="en-US" sz="1100" dirty="0">
                <a:solidFill>
                  <a:srgbClr val="94A3B8"/>
                </a:solidFill>
                <a:latin typeface="Arial" pitchFamily="34" charset="0"/>
                <a:ea typeface="Arial" pitchFamily="34" charset="-122"/>
                <a:cs typeface="Arial" pitchFamily="34" charset="-120"/>
              </a:rPr>
              <a:t>عقدة الإحباط المقارن بأول الطريق؛ الشعور بالضعف أمام سرعة الآلة الخارقة بضغط زر واحدة.</a:t>
            </a:r>
            <a:endParaRPr lang="en-US" sz="1100" dirty="0"/>
          </a:p>
        </p:txBody>
      </p:sp>
      <p:sp>
        <p:nvSpPr>
          <p:cNvPr id="16" name="Shape 14"/>
          <p:cNvSpPr/>
          <p:nvPr/>
        </p:nvSpPr>
        <p:spPr>
          <a:xfrm>
            <a:off x="7178040" y="4434840"/>
            <a:ext cx="54864" cy="594360"/>
          </a:xfrm>
          <a:prstGeom prst="rect">
            <a:avLst/>
          </a:prstGeom>
          <a:solidFill>
            <a:srgbClr val="10B981"/>
          </a:solidFill>
          <a:ln/>
        </p:spPr>
      </p:sp>
      <p:sp>
        <p:nvSpPr>
          <p:cNvPr id="17" name="Text 15"/>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الأول: </a:t>
            </a:r>
            <a:pPr algn="r" indent="0" marL="0">
              <a:buNone/>
            </a:pPr>
            <a:r>
              <a:rPr lang="en-US" sz="2600" b="1" dirty="0">
                <a:solidFill>
                  <a:srgbClr val="10B981"/>
                </a:solidFill>
                <a:latin typeface="Arial" pitchFamily="34" charset="0"/>
                <a:ea typeface="Arial" pitchFamily="34" charset="-122"/>
                <a:cs typeface="Arial" pitchFamily="34" charset="-120"/>
              </a:rPr>
              <a:t>الكود الأعمى وقاعدة تقسيم المسؤولية</a:t>
            </a:r>
            <a:endParaRPr lang="en-US" sz="2600" dirty="0"/>
          </a:p>
        </p:txBody>
      </p:sp>
      <p:sp>
        <p:nvSpPr>
          <p:cNvPr id="4" name="Text 2"/>
          <p:cNvSpPr/>
          <p:nvPr/>
        </p:nvSpPr>
        <p:spPr>
          <a:xfrm>
            <a:off x="457200" y="1097280"/>
            <a:ext cx="4846320" cy="411480"/>
          </a:xfrm>
          <a:prstGeom prst="rect">
            <a:avLst/>
          </a:prstGeom>
          <a:noFill/>
          <a:ln/>
        </p:spPr>
        <p:txBody>
          <a:bodyPr wrap="square" rtlCol="0" anchor="ctr"/>
          <a:lstStyle/>
          <a:p>
            <a:pPr rtl="1" algn="r" indent="0" marL="0">
              <a:buNone/>
            </a:pPr>
            <a:r>
              <a:rPr lang="en-US" sz="1500" b="1" dirty="0">
                <a:solidFill>
                  <a:srgbClr val="10B981"/>
                </a:solidFill>
                <a:latin typeface="Arial" pitchFamily="34" charset="0"/>
                <a:ea typeface="Arial" pitchFamily="34" charset="-122"/>
                <a:cs typeface="Arial" pitchFamily="34" charset="-120"/>
              </a:rPr>
              <a:t>الذكاء الاصطناعي ينجز 60%.. والـ 40% الباقية هي سر بقائك!</a:t>
            </a:r>
            <a:endParaRPr lang="en-US" sz="1500" dirty="0"/>
          </a:p>
        </p:txBody>
      </p:sp>
      <p:sp>
        <p:nvSpPr>
          <p:cNvPr id="5" name="Shape 3"/>
          <p:cNvSpPr/>
          <p:nvPr/>
        </p:nvSpPr>
        <p:spPr>
          <a:xfrm>
            <a:off x="457200" y="1645920"/>
            <a:ext cx="4846320" cy="777240"/>
          </a:xfrm>
          <a:prstGeom prst="rect">
            <a:avLst/>
          </a:prstGeom>
          <a:solidFill>
            <a:srgbClr val="1E293B">
              <a:alpha val="50000"/>
            </a:srgbClr>
          </a:solidFill>
          <a:ln/>
        </p:spPr>
      </p:sp>
      <p:sp>
        <p:nvSpPr>
          <p:cNvPr id="6" name="Text 4"/>
          <p:cNvSpPr/>
          <p:nvPr/>
        </p:nvSpPr>
        <p:spPr>
          <a:xfrm>
            <a:off x="548640" y="1691640"/>
            <a:ext cx="4663440" cy="685800"/>
          </a:xfrm>
          <a:prstGeom prst="rect">
            <a:avLst/>
          </a:prstGeom>
          <a:noFill/>
          <a:ln/>
        </p:spPr>
        <p:txBody>
          <a:bodyPr wrap="square" rtlCol="0" anchor="ctr"/>
          <a:lstStyle/>
          <a:p>
            <a:pPr rtl="1" algn="r" indent="0" marL="0">
              <a:buNone/>
            </a:pPr>
            <a:r>
              <a:rPr lang="en-US" sz="1000" dirty="0">
                <a:solidFill>
                  <a:srgbClr val="F8FAFC"/>
                </a:solidFill>
                <a:latin typeface="Arial" pitchFamily="34" charset="0"/>
                <a:ea typeface="Arial" pitchFamily="34" charset="-122"/>
                <a:cs typeface="Arial" pitchFamily="34" charset="-120"/>
              </a:rPr>
              <a:t>الـ 60% الخاصة بالآلة: كتابة الكود الأساسي بسرعة فائقة، إنشاء الملفات والهياكل الأولية، كتابة الدوال المتكررة المألوفة.</a:t>
            </a:r>
            <a:endParaRPr lang="en-US" sz="1000" dirty="0"/>
          </a:p>
        </p:txBody>
      </p:sp>
      <p:sp>
        <p:nvSpPr>
          <p:cNvPr id="7" name="Shape 5"/>
          <p:cNvSpPr/>
          <p:nvPr/>
        </p:nvSpPr>
        <p:spPr>
          <a:xfrm>
            <a:off x="457200" y="2560320"/>
            <a:ext cx="4846320" cy="777240"/>
          </a:xfrm>
          <a:prstGeom prst="rect">
            <a:avLst/>
          </a:prstGeom>
          <a:solidFill>
            <a:srgbClr val="10B981">
              <a:alpha val="8000"/>
            </a:srgbClr>
          </a:solidFill>
          <a:ln/>
        </p:spPr>
      </p:sp>
      <p:sp>
        <p:nvSpPr>
          <p:cNvPr id="8" name="Shape 6"/>
          <p:cNvSpPr/>
          <p:nvPr/>
        </p:nvSpPr>
        <p:spPr>
          <a:xfrm>
            <a:off x="5248656" y="2560320"/>
            <a:ext cx="54864" cy="777240"/>
          </a:xfrm>
          <a:prstGeom prst="rect">
            <a:avLst/>
          </a:prstGeom>
          <a:solidFill>
            <a:srgbClr val="10B981"/>
          </a:solidFill>
          <a:ln/>
        </p:spPr>
      </p:sp>
      <p:sp>
        <p:nvSpPr>
          <p:cNvPr id="9" name="Text 7"/>
          <p:cNvSpPr/>
          <p:nvPr/>
        </p:nvSpPr>
        <p:spPr>
          <a:xfrm>
            <a:off x="548640" y="2606040"/>
            <a:ext cx="4663440" cy="685800"/>
          </a:xfrm>
          <a:prstGeom prst="rect">
            <a:avLst/>
          </a:prstGeom>
          <a:noFill/>
          <a:ln/>
        </p:spPr>
        <p:txBody>
          <a:bodyPr wrap="square" rtlCol="0" anchor="ctr"/>
          <a:lstStyle/>
          <a:p>
            <a:pPr rtl="1" algn="r" indent="0" marL="0">
              <a:buNone/>
            </a:pPr>
            <a:r>
              <a:rPr lang="en-US" sz="1000" dirty="0">
                <a:solidFill>
                  <a:srgbClr val="F8FAFC"/>
                </a:solidFill>
                <a:latin typeface="Arial" pitchFamily="34" charset="0"/>
                <a:ea typeface="Arial" pitchFamily="34" charset="-122"/>
                <a:cs typeface="Arial" pitchFamily="34" charset="-120"/>
              </a:rPr>
              <a:t>الـ 40% الخاصة بك كمهندس: مراجعة جودة المنطق، اكتشاف الثغرات الأمنية الخفية، ربط وتكامل الأنظمة المعقدة ببعضها، وإسقاط الرؤية الإبداعية.</a:t>
            </a:r>
            <a:endParaRPr lang="en-US" sz="1000" dirty="0"/>
          </a:p>
        </p:txBody>
      </p:sp>
      <p:sp>
        <p:nvSpPr>
          <p:cNvPr id="10" name="Shape 8"/>
          <p:cNvSpPr/>
          <p:nvPr/>
        </p:nvSpPr>
        <p:spPr>
          <a:xfrm>
            <a:off x="457200" y="3520440"/>
            <a:ext cx="4846320" cy="640080"/>
          </a:xfrm>
          <a:prstGeom prst="rect">
            <a:avLst/>
          </a:prstGeom>
          <a:solidFill>
            <a:srgbClr val="38BDF8">
              <a:alpha val="10000"/>
            </a:srgbClr>
          </a:solidFill>
          <a:ln/>
        </p:spPr>
      </p:sp>
      <p:sp>
        <p:nvSpPr>
          <p:cNvPr id="11" name="Shape 9"/>
          <p:cNvSpPr/>
          <p:nvPr/>
        </p:nvSpPr>
        <p:spPr>
          <a:xfrm>
            <a:off x="5248656" y="3520440"/>
            <a:ext cx="54864" cy="640080"/>
          </a:xfrm>
          <a:prstGeom prst="rect">
            <a:avLst/>
          </a:prstGeom>
          <a:solidFill>
            <a:srgbClr val="38BDF8"/>
          </a:solidFill>
          <a:ln/>
        </p:spPr>
      </p:sp>
      <p:sp>
        <p:nvSpPr>
          <p:cNvPr id="12" name="Text 10"/>
          <p:cNvSpPr/>
          <p:nvPr/>
        </p:nvSpPr>
        <p:spPr>
          <a:xfrm>
            <a:off x="548640" y="3520440"/>
            <a:ext cx="4663440" cy="640080"/>
          </a:xfrm>
          <a:prstGeom prst="rect">
            <a:avLst/>
          </a:prstGeom>
          <a:noFill/>
          <a:ln/>
        </p:spPr>
        <p:txBody>
          <a:bodyPr wrap="square" rtlCol="0" anchor="ctr"/>
          <a:lstStyle/>
          <a:p>
            <a:pPr rtl="1" algn="ctr" indent="0" marL="0">
              <a:buNone/>
            </a:pPr>
            <a:r>
              <a:rPr lang="en-US" sz="1100" b="1" dirty="0">
                <a:solidFill>
                  <a:srgbClr val="F8FAFC"/>
                </a:solidFill>
                <a:latin typeface="Arial" pitchFamily="34" charset="0"/>
                <a:ea typeface="Arial" pitchFamily="34" charset="-122"/>
                <a:cs typeface="Arial" pitchFamily="34" charset="-120"/>
              </a:rPr>
              <a:t>"الـ 40% الهندسية هي الخط الفاصل والوحيد الذي يحمي مهندس البرمجيات المحترف عن كاتب الكود البسيط."</a:t>
            </a:r>
            <a:endParaRPr lang="en-US" sz="1100" dirty="0"/>
          </a:p>
        </p:txBody>
      </p:sp>
      <p:pic>
        <p:nvPicPr>
          <p:cNvPr id="13" name="Image 0" descr="/sessions/magical-eager-hopper/mnt/عرض/robot.jpg">    </p:cNvPr>
          <p:cNvPicPr>
            <a:picLocks noChangeAspect="1"/>
          </p:cNvPicPr>
          <p:nvPr/>
        </p:nvPicPr>
        <p:blipFill>
          <a:blip r:embed="rId1"/>
          <a:srcRect l="0" r="0" t="0" b="0"/>
          <a:stretch/>
        </p:blipFill>
        <p:spPr>
          <a:xfrm>
            <a:off x="5669280" y="1097280"/>
            <a:ext cx="3017520" cy="3474720"/>
          </a:xfrm>
          <a:prstGeom prst="rect">
            <a:avLst/>
          </a:prstGeom>
        </p:spPr>
      </p:pic>
      <p:sp>
        <p:nvSpPr>
          <p:cNvPr id="14" name="Shape 11"/>
          <p:cNvSpPr/>
          <p:nvPr/>
        </p:nvSpPr>
        <p:spPr>
          <a:xfrm>
            <a:off x="7178040" y="4434840"/>
            <a:ext cx="54864" cy="594360"/>
          </a:xfrm>
          <a:prstGeom prst="rect">
            <a:avLst/>
          </a:prstGeom>
          <a:solidFill>
            <a:srgbClr val="10B981"/>
          </a:solidFill>
          <a:ln/>
        </p:spPr>
      </p:sp>
      <p:sp>
        <p:nvSpPr>
          <p:cNvPr id="15" name="Text 12"/>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الأول | </a:t>
            </a:r>
            <a:pPr algn="r" indent="0" marL="0">
              <a:buNone/>
            </a:pPr>
            <a:r>
              <a:rPr lang="en-US" sz="2600" b="1" dirty="0">
                <a:solidFill>
                  <a:srgbClr val="10B981"/>
                </a:solidFill>
                <a:latin typeface="Arial" pitchFamily="34" charset="0"/>
                <a:ea typeface="Arial" pitchFamily="34" charset="-122"/>
                <a:cs typeface="Arial" pitchFamily="34" charset="-120"/>
              </a:rPr>
              <a:t>مثال 1: سيناريو كارثة الدفع الإلكتروني</a:t>
            </a:r>
            <a:endParaRPr lang="en-US" sz="2600" dirty="0"/>
          </a:p>
        </p:txBody>
      </p:sp>
      <p:sp>
        <p:nvSpPr>
          <p:cNvPr id="4" name="Shape 2"/>
          <p:cNvSpPr/>
          <p:nvPr/>
        </p:nvSpPr>
        <p:spPr>
          <a:xfrm>
            <a:off x="457200" y="1097280"/>
            <a:ext cx="5303520" cy="3200400"/>
          </a:xfrm>
          <a:prstGeom prst="rect">
            <a:avLst/>
          </a:prstGeom>
          <a:solidFill>
            <a:srgbClr val="EF4444">
              <a:alpha val="8000"/>
            </a:srgbClr>
          </a:solidFill>
          <a:ln/>
        </p:spPr>
      </p:sp>
      <p:sp>
        <p:nvSpPr>
          <p:cNvPr id="5" name="Shape 3"/>
          <p:cNvSpPr/>
          <p:nvPr/>
        </p:nvSpPr>
        <p:spPr>
          <a:xfrm>
            <a:off x="5705856" y="1097280"/>
            <a:ext cx="54864" cy="3200400"/>
          </a:xfrm>
          <a:prstGeom prst="rect">
            <a:avLst/>
          </a:prstGeom>
          <a:solidFill>
            <a:srgbClr val="EF4444"/>
          </a:solidFill>
          <a:ln/>
        </p:spPr>
      </p:sp>
      <p:sp>
        <p:nvSpPr>
          <p:cNvPr id="6" name="Text 4"/>
          <p:cNvSpPr/>
          <p:nvPr/>
        </p:nvSpPr>
        <p:spPr>
          <a:xfrm>
            <a:off x="548640" y="1188720"/>
            <a:ext cx="5029200" cy="3017520"/>
          </a:xfrm>
          <a:prstGeom prst="rect">
            <a:avLst/>
          </a:prstGeom>
          <a:noFill/>
          <a:ln/>
        </p:spPr>
        <p:txBody>
          <a:bodyPr wrap="square" rtlCol="0" anchor="t"/>
          <a:lstStyle/>
          <a:p>
            <a:pPr algn="r" indent="0" marL="0">
              <a:lnSpc>
                <a:spcPct val="110000"/>
              </a:lnSpc>
              <a:buNone/>
            </a:pPr>
            <a:r>
              <a:rPr lang="en-US" sz="1500" b="1" dirty="0">
                <a:solidFill>
                  <a:srgbClr val="EF4444"/>
                </a:solidFill>
                <a:latin typeface="Arial" pitchFamily="34" charset="0"/>
                <a:ea typeface="Arial" pitchFamily="34" charset="-122"/>
                <a:cs typeface="Arial" pitchFamily="34" charset="-120"/>
              </a:rPr>
              <a:t>كود بثانيتين.. وخسائر بآلاف الدولارات!
</a:t>
            </a:r>
            <a:endParaRPr lang="en-US" sz="1500" dirty="0"/>
          </a:p>
          <a:p>
            <a:pPr algn="r" indent="0" marL="0">
              <a:lnSpc>
                <a:spcPct val="110000"/>
              </a:lnSpc>
              <a:buNone/>
            </a:pPr>
            <a:r>
              <a:rPr lang="en-US" sz="1100" dirty="0">
                <a:solidFill>
                  <a:srgbClr val="F8FAFC"/>
                </a:solidFill>
                <a:latin typeface="Arial" pitchFamily="34" charset="0"/>
                <a:ea typeface="Arial" pitchFamily="34" charset="-122"/>
                <a:cs typeface="Arial" pitchFamily="34" charset="-120"/>
              </a:rPr>
              <a:t>تخيل مبرمجاً طلب من الآلة كتابة صفحة دفع إلكتروني، الكود خرج بثانيتين والواجهة جميلة وشغالة 100%. قام بنشرها فوراً دون مراجعة هندسية عميقة.
</a:t>
            </a:r>
            <a:endParaRPr lang="en-US" sz="1500" dirty="0"/>
          </a:p>
          <a:p>
            <a:pPr algn="r" indent="0" marL="0">
              <a:lnSpc>
                <a:spcPct val="110000"/>
              </a:lnSpc>
              <a:buNone/>
            </a:pPr>
            <a:r>
              <a:rPr lang="en-US" sz="1200" b="1" dirty="0">
                <a:solidFill>
                  <a:srgbClr val="F8FAFC"/>
                </a:solidFill>
                <a:latin typeface="Arial" pitchFamily="34" charset="0"/>
                <a:ea typeface="Arial" pitchFamily="34" charset="-122"/>
                <a:cs typeface="Arial" pitchFamily="34" charset="-120"/>
              </a:rPr>
              <a:t>الكوارث المخفية في الكود المولد تلقائياً:
</a:t>
            </a:r>
            <a:endParaRPr lang="en-US" sz="1500" dirty="0"/>
          </a:p>
          <a:p>
            <a:pPr algn="r" indent="0" marL="0">
              <a:lnSpc>
                <a:spcPct val="110000"/>
              </a:lnSpc>
              <a:buNone/>
            </a:pPr>
            <a:r>
              <a:rPr lang="en-US" sz="1000" dirty="0">
                <a:solidFill>
                  <a:srgbClr val="94A3B8"/>
                </a:solidFill>
                <a:latin typeface="Arial" pitchFamily="34" charset="0"/>
                <a:ea typeface="Arial" pitchFamily="34" charset="-122"/>
                <a:cs typeface="Arial" pitchFamily="34" charset="-120"/>
              </a:rPr>
              <a:t>• إذا ضغط المستخدم على زر "تأكيد الدفع" مرتين متتاليتين بسرعة، يتم خصم المبلغ من بطاقته مرتين لغياب ميزة الـ Debouncing!
</a:t>
            </a:r>
            <a:endParaRPr lang="en-US" sz="1500" dirty="0"/>
          </a:p>
          <a:p>
            <a:pPr algn="r" indent="0" marL="0">
              <a:lnSpc>
                <a:spcPct val="110000"/>
              </a:lnSpc>
              <a:buNone/>
            </a:pPr>
            <a:r>
              <a:rPr lang="en-US" sz="1000" dirty="0">
                <a:solidFill>
                  <a:srgbClr val="94A3B8"/>
                </a:solidFill>
                <a:latin typeface="Arial" pitchFamily="34" charset="0"/>
                <a:ea typeface="Arial" pitchFamily="34" charset="-122"/>
                <a:cs typeface="Arial" pitchFamily="34" charset="-120"/>
              </a:rPr>
              <a:t>• خطأ بسيط في معالجة الشروط المنطقية والـ Validation قد يجعل سعر المنتج بالخطأ $0؛ مما يؤدي لخسارة الشركة لآلاف الدولارات.</a:t>
            </a:r>
            <a:endParaRPr lang="en-US" sz="1500" dirty="0"/>
          </a:p>
        </p:txBody>
      </p:sp>
      <p:pic>
        <p:nvPicPr>
          <p:cNvPr id="7" name="Image 0" descr="/sessions/magical-eager-hopper/mnt/عرض/card.jpg">    </p:cNvPr>
          <p:cNvPicPr>
            <a:picLocks noChangeAspect="1"/>
          </p:cNvPicPr>
          <p:nvPr/>
        </p:nvPicPr>
        <p:blipFill>
          <a:blip r:embed="rId1"/>
          <a:srcRect l="0" r="0" t="0" b="0"/>
          <a:stretch/>
        </p:blipFill>
        <p:spPr>
          <a:xfrm>
            <a:off x="6035040" y="1097280"/>
            <a:ext cx="2743200" cy="3200400"/>
          </a:xfrm>
          <a:prstGeom prst="rect">
            <a:avLst/>
          </a:prstGeom>
        </p:spPr>
      </p:pic>
      <p:sp>
        <p:nvSpPr>
          <p:cNvPr id="8" name="Shape 5"/>
          <p:cNvSpPr/>
          <p:nvPr/>
        </p:nvSpPr>
        <p:spPr>
          <a:xfrm>
            <a:off x="7178040" y="4434840"/>
            <a:ext cx="54864" cy="594360"/>
          </a:xfrm>
          <a:prstGeom prst="rect">
            <a:avLst/>
          </a:prstGeom>
          <a:solidFill>
            <a:srgbClr val="10B981"/>
          </a:solidFill>
          <a:ln/>
        </p:spPr>
      </p:sp>
      <p:sp>
        <p:nvSpPr>
          <p:cNvPr id="9" name="Text 6"/>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الأول | </a:t>
            </a:r>
            <a:pPr algn="r" indent="0" marL="0">
              <a:buNone/>
            </a:pPr>
            <a:r>
              <a:rPr lang="en-US" sz="2600" b="1" dirty="0">
                <a:solidFill>
                  <a:srgbClr val="10B981"/>
                </a:solidFill>
                <a:latin typeface="Arial" pitchFamily="34" charset="0"/>
                <a:ea typeface="Arial" pitchFamily="34" charset="-122"/>
                <a:cs typeface="Arial" pitchFamily="34" charset="-120"/>
              </a:rPr>
              <a:t>مثال 2: قصة انهيار مشروع Moltbook (يناير 2026)</a:t>
            </a:r>
            <a:endParaRPr lang="en-US" sz="2600" dirty="0"/>
          </a:p>
        </p:txBody>
      </p:sp>
      <p:sp>
        <p:nvSpPr>
          <p:cNvPr id="4" name="Shape 2"/>
          <p:cNvSpPr/>
          <p:nvPr/>
        </p:nvSpPr>
        <p:spPr>
          <a:xfrm>
            <a:off x="457200" y="1097280"/>
            <a:ext cx="4389120" cy="1371600"/>
          </a:xfrm>
          <a:prstGeom prst="rect">
            <a:avLst/>
          </a:prstGeom>
          <a:solidFill>
            <a:srgbClr val="EF4444">
              <a:alpha val="8000"/>
            </a:srgbClr>
          </a:solidFill>
          <a:ln/>
        </p:spPr>
      </p:sp>
      <p:sp>
        <p:nvSpPr>
          <p:cNvPr id="5" name="Shape 3"/>
          <p:cNvSpPr/>
          <p:nvPr/>
        </p:nvSpPr>
        <p:spPr>
          <a:xfrm>
            <a:off x="4791456" y="1097280"/>
            <a:ext cx="54864" cy="1371600"/>
          </a:xfrm>
          <a:prstGeom prst="rect">
            <a:avLst/>
          </a:prstGeom>
          <a:solidFill>
            <a:srgbClr val="EF4444"/>
          </a:solidFill>
          <a:ln/>
        </p:spPr>
      </p:sp>
      <p:sp>
        <p:nvSpPr>
          <p:cNvPr id="6" name="Text 4"/>
          <p:cNvSpPr/>
          <p:nvPr/>
        </p:nvSpPr>
        <p:spPr>
          <a:xfrm>
            <a:off x="548640" y="1143000"/>
            <a:ext cx="4114800" cy="1280160"/>
          </a:xfrm>
          <a:prstGeom prst="rect">
            <a:avLst/>
          </a:prstGeom>
          <a:noFill/>
          <a:ln/>
        </p:spPr>
        <p:txBody>
          <a:bodyPr wrap="square" rtlCol="0" anchor="t"/>
          <a:lstStyle/>
          <a:p>
            <a:pPr algn="r" indent="0" marL="0">
              <a:lnSpc>
                <a:spcPct val="120000"/>
              </a:lnSpc>
              <a:buNone/>
            </a:pPr>
            <a:r>
              <a:rPr lang="en-US" sz="1300" b="1" dirty="0">
                <a:solidFill>
                  <a:srgbClr val="EF4444"/>
                </a:solidFill>
                <a:latin typeface="Arial" pitchFamily="34" charset="0"/>
                <a:ea typeface="Arial" pitchFamily="34" charset="-122"/>
                <a:cs typeface="Arial" pitchFamily="34" charset="-120"/>
              </a:rPr>
              <a:t>"ما كتبت ولا سطر كود واحد.. الـ AI بنى كل شيء!"
</a:t>
            </a:r>
            <a:endParaRPr lang="en-US" sz="1300" dirty="0"/>
          </a:p>
          <a:p>
            <a:pPr algn="r" indent="0" marL="0">
              <a:lnSpc>
                <a:spcPct val="120000"/>
              </a:lnSpc>
              <a:buNone/>
            </a:pPr>
            <a:r>
              <a:rPr lang="en-US" sz="1000" dirty="0">
                <a:solidFill>
                  <a:srgbClr val="F8FAFC"/>
                </a:solidFill>
                <a:latin typeface="Arial" pitchFamily="34" charset="0"/>
                <a:ea typeface="Arial" pitchFamily="34" charset="-122"/>
                <a:cs typeface="Arial" pitchFamily="34" charset="-120"/>
              </a:rPr>
              <a:t>عبارة قالها مؤسس المشروع علناً وبكل فخر واعتزاز في بداية شهر يناير من عام 2026.
</a:t>
            </a:r>
            <a:endParaRPr lang="en-US" sz="1300" dirty="0"/>
          </a:p>
          <a:p>
            <a:pPr algn="r" indent="0" marL="0">
              <a:lnSpc>
                <a:spcPct val="120000"/>
              </a:lnSpc>
              <a:buNone/>
            </a:pPr>
            <a:r>
              <a:rPr lang="en-US" sz="1100" b="1" dirty="0">
                <a:solidFill>
                  <a:srgbClr val="F8FAFC"/>
                </a:solidFill>
                <a:latin typeface="Arial" pitchFamily="34" charset="0"/>
                <a:ea typeface="Arial" pitchFamily="34" charset="-122"/>
                <a:cs typeface="Arial" pitchFamily="34" charset="-120"/>
              </a:rPr>
              <a:t>النتيجة القاتلة بعد 3 أيام فقط من الإطلاق:</a:t>
            </a:r>
            <a:endParaRPr lang="en-US" sz="1300" dirty="0"/>
          </a:p>
        </p:txBody>
      </p:sp>
      <p:sp>
        <p:nvSpPr>
          <p:cNvPr id="7" name="Shape 5"/>
          <p:cNvSpPr/>
          <p:nvPr/>
        </p:nvSpPr>
        <p:spPr>
          <a:xfrm>
            <a:off x="457200" y="2651760"/>
            <a:ext cx="4389120" cy="640080"/>
          </a:xfrm>
          <a:prstGeom prst="rect">
            <a:avLst/>
          </a:prstGeom>
          <a:solidFill>
            <a:srgbClr val="EF4444">
              <a:alpha val="5000"/>
            </a:srgbClr>
          </a:solidFill>
          <a:ln w="6350">
            <a:solidFill>
              <a:srgbClr val="EF4444">
                <a:alpha val="30000"/>
              </a:srgbClr>
            </a:solidFill>
            <a:prstDash val="solid"/>
          </a:ln>
        </p:spPr>
      </p:sp>
      <p:sp>
        <p:nvSpPr>
          <p:cNvPr id="8" name="Text 6"/>
          <p:cNvSpPr/>
          <p:nvPr/>
        </p:nvSpPr>
        <p:spPr>
          <a:xfrm>
            <a:off x="548640" y="2651760"/>
            <a:ext cx="822960" cy="640080"/>
          </a:xfrm>
          <a:prstGeom prst="rect">
            <a:avLst/>
          </a:prstGeom>
          <a:noFill/>
          <a:ln/>
        </p:spPr>
        <p:txBody>
          <a:bodyPr wrap="square" rtlCol="0" anchor="ctr"/>
          <a:lstStyle/>
          <a:p>
            <a:pPr algn="ctr" indent="0" marL="0">
              <a:buNone/>
            </a:pPr>
            <a:r>
              <a:rPr lang="en-US" sz="2200" b="1" dirty="0">
                <a:solidFill>
                  <a:srgbClr val="EF4444"/>
                </a:solidFill>
                <a:latin typeface="Arial" pitchFamily="34" charset="0"/>
                <a:ea typeface="Arial" pitchFamily="34" charset="-122"/>
                <a:cs typeface="Arial" pitchFamily="34" charset="-120"/>
              </a:rPr>
              <a:t>1.5M</a:t>
            </a:r>
            <a:endParaRPr lang="en-US" sz="2200" dirty="0"/>
          </a:p>
        </p:txBody>
      </p:sp>
      <p:sp>
        <p:nvSpPr>
          <p:cNvPr id="9" name="Text 7"/>
          <p:cNvSpPr/>
          <p:nvPr/>
        </p:nvSpPr>
        <p:spPr>
          <a:xfrm>
            <a:off x="1371600" y="2651760"/>
            <a:ext cx="3383280" cy="640080"/>
          </a:xfrm>
          <a:prstGeom prst="rect">
            <a:avLst/>
          </a:prstGeom>
          <a:noFill/>
          <a:ln/>
        </p:spPr>
        <p:txBody>
          <a:bodyPr wrap="square" rtlCol="0" anchor="ctr"/>
          <a:lstStyle/>
          <a:p>
            <a:pPr rtl="1" algn="r" indent="0" marL="0">
              <a:lnSpc>
                <a:spcPct val="120000"/>
              </a:lnSpc>
              <a:buNone/>
            </a:pPr>
            <a:r>
              <a:rPr lang="en-US" sz="900" dirty="0">
                <a:solidFill>
                  <a:srgbClr val="F8FAFC"/>
                </a:solidFill>
                <a:latin typeface="Arial" pitchFamily="34" charset="0"/>
                <a:ea typeface="Arial" pitchFamily="34" charset="-122"/>
                <a:cs typeface="Arial" pitchFamily="34" charset="-120"/>
              </a:rPr>
              <a:t>مفتاح API سري وحساس للشركة تم كشفه علناً داخل الأكواد المولدة عشوائياً بدون حماية هندسية.</a:t>
            </a:r>
            <a:endParaRPr lang="en-US" sz="900" dirty="0"/>
          </a:p>
        </p:txBody>
      </p:sp>
      <p:sp>
        <p:nvSpPr>
          <p:cNvPr id="10" name="Shape 8"/>
          <p:cNvSpPr/>
          <p:nvPr/>
        </p:nvSpPr>
        <p:spPr>
          <a:xfrm>
            <a:off x="457200" y="3429000"/>
            <a:ext cx="4389120" cy="640080"/>
          </a:xfrm>
          <a:prstGeom prst="rect">
            <a:avLst/>
          </a:prstGeom>
          <a:solidFill>
            <a:srgbClr val="EF4444">
              <a:alpha val="5000"/>
            </a:srgbClr>
          </a:solidFill>
          <a:ln w="6350">
            <a:solidFill>
              <a:srgbClr val="EF4444">
                <a:alpha val="30000"/>
              </a:srgbClr>
            </a:solidFill>
            <a:prstDash val="solid"/>
          </a:ln>
        </p:spPr>
      </p:sp>
      <p:sp>
        <p:nvSpPr>
          <p:cNvPr id="11" name="Text 9"/>
          <p:cNvSpPr/>
          <p:nvPr/>
        </p:nvSpPr>
        <p:spPr>
          <a:xfrm>
            <a:off x="548640" y="3429000"/>
            <a:ext cx="822960" cy="640080"/>
          </a:xfrm>
          <a:prstGeom prst="rect">
            <a:avLst/>
          </a:prstGeom>
          <a:noFill/>
          <a:ln/>
        </p:spPr>
        <p:txBody>
          <a:bodyPr wrap="square" rtlCol="0" anchor="ctr"/>
          <a:lstStyle/>
          <a:p>
            <a:pPr algn="ctr" indent="0" marL="0">
              <a:buNone/>
            </a:pPr>
            <a:r>
              <a:rPr lang="en-US" sz="2200" b="1" dirty="0">
                <a:solidFill>
                  <a:srgbClr val="EF4444"/>
                </a:solidFill>
                <a:latin typeface="Arial" pitchFamily="34" charset="0"/>
                <a:ea typeface="Arial" pitchFamily="34" charset="-122"/>
                <a:cs typeface="Arial" pitchFamily="34" charset="-120"/>
              </a:rPr>
              <a:t>35K</a:t>
            </a:r>
            <a:endParaRPr lang="en-US" sz="2200" dirty="0"/>
          </a:p>
        </p:txBody>
      </p:sp>
      <p:sp>
        <p:nvSpPr>
          <p:cNvPr id="12" name="Text 10"/>
          <p:cNvSpPr/>
          <p:nvPr/>
        </p:nvSpPr>
        <p:spPr>
          <a:xfrm>
            <a:off x="1371600" y="3429000"/>
            <a:ext cx="3383280" cy="640080"/>
          </a:xfrm>
          <a:prstGeom prst="rect">
            <a:avLst/>
          </a:prstGeom>
          <a:noFill/>
          <a:ln/>
        </p:spPr>
        <p:txBody>
          <a:bodyPr wrap="square" rtlCol="0" anchor="ctr"/>
          <a:lstStyle/>
          <a:p>
            <a:pPr rtl="1" algn="r" indent="0" marL="0">
              <a:lnSpc>
                <a:spcPct val="120000"/>
              </a:lnSpc>
              <a:buNone/>
            </a:pPr>
            <a:r>
              <a:rPr lang="en-US" sz="900" dirty="0">
                <a:solidFill>
                  <a:srgbClr val="F8FAFC"/>
                </a:solidFill>
                <a:latin typeface="Arial" pitchFamily="34" charset="0"/>
                <a:ea typeface="Arial" pitchFamily="34" charset="-122"/>
                <a:cs typeface="Arial" pitchFamily="34" charset="-120"/>
              </a:rPr>
              <a:t>مستخدم تضررت وسُربت إيميلاتهم وبياناتهم الحساسة بالكامل خلال 72 ساعة، مما أدى لانهيار المشروع للأبد!</a:t>
            </a:r>
            <a:endParaRPr lang="en-US" sz="900" dirty="0"/>
          </a:p>
        </p:txBody>
      </p:sp>
      <p:pic>
        <p:nvPicPr>
          <p:cNvPr id="13" name="Image 0" descr="/sessions/magical-eager-hopper/mnt/عرض/hack.jpg">    </p:cNvPr>
          <p:cNvPicPr>
            <a:picLocks noChangeAspect="1"/>
          </p:cNvPicPr>
          <p:nvPr/>
        </p:nvPicPr>
        <p:blipFill>
          <a:blip r:embed="rId1"/>
          <a:srcRect l="0" r="0" t="0" b="0"/>
          <a:stretch/>
        </p:blipFill>
        <p:spPr>
          <a:xfrm>
            <a:off x="5212080" y="1097280"/>
            <a:ext cx="3474720" cy="3200400"/>
          </a:xfrm>
          <a:prstGeom prst="rect">
            <a:avLst/>
          </a:prstGeom>
        </p:spPr>
      </p:pic>
      <p:sp>
        <p:nvSpPr>
          <p:cNvPr id="14" name="Shape 11"/>
          <p:cNvSpPr/>
          <p:nvPr/>
        </p:nvSpPr>
        <p:spPr>
          <a:xfrm>
            <a:off x="7178040" y="4434840"/>
            <a:ext cx="54864" cy="594360"/>
          </a:xfrm>
          <a:prstGeom prst="rect">
            <a:avLst/>
          </a:prstGeom>
          <a:solidFill>
            <a:srgbClr val="10B981"/>
          </a:solidFill>
          <a:ln/>
        </p:spPr>
      </p:sp>
      <p:sp>
        <p:nvSpPr>
          <p:cNvPr id="15" name="Text 12"/>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الثاني: </a:t>
            </a:r>
            <a:pPr algn="r" indent="0" marL="0">
              <a:buNone/>
            </a:pPr>
            <a:r>
              <a:rPr lang="en-US" sz="2600" b="1" dirty="0">
                <a:solidFill>
                  <a:srgbClr val="10B981"/>
                </a:solidFill>
                <a:latin typeface="Arial" pitchFamily="34" charset="0"/>
                <a:ea typeface="Arial" pitchFamily="34" charset="-122"/>
                <a:cs typeface="Arial" pitchFamily="34" charset="-120"/>
              </a:rPr>
              <a:t>عقدة كود السباغيتي (Spaghetti Code)</a:t>
            </a:r>
            <a:endParaRPr lang="en-US" sz="2600" dirty="0"/>
          </a:p>
        </p:txBody>
      </p:sp>
      <p:sp>
        <p:nvSpPr>
          <p:cNvPr id="4" name="Shape 2"/>
          <p:cNvSpPr/>
          <p:nvPr/>
        </p:nvSpPr>
        <p:spPr>
          <a:xfrm>
            <a:off x="457200" y="1097280"/>
            <a:ext cx="4846320" cy="2011680"/>
          </a:xfrm>
          <a:prstGeom prst="rect">
            <a:avLst/>
          </a:prstGeom>
          <a:solidFill>
            <a:srgbClr val="38BDF8">
              <a:alpha val="8000"/>
            </a:srgbClr>
          </a:solidFill>
          <a:ln/>
        </p:spPr>
      </p:sp>
      <p:sp>
        <p:nvSpPr>
          <p:cNvPr id="5" name="Shape 3"/>
          <p:cNvSpPr/>
          <p:nvPr/>
        </p:nvSpPr>
        <p:spPr>
          <a:xfrm>
            <a:off x="5248656" y="1097280"/>
            <a:ext cx="54864" cy="2011680"/>
          </a:xfrm>
          <a:prstGeom prst="rect">
            <a:avLst/>
          </a:prstGeom>
          <a:solidFill>
            <a:srgbClr val="38BDF8"/>
          </a:solidFill>
          <a:ln/>
        </p:spPr>
      </p:sp>
      <p:sp>
        <p:nvSpPr>
          <p:cNvPr id="6" name="Text 4"/>
          <p:cNvSpPr/>
          <p:nvPr/>
        </p:nvSpPr>
        <p:spPr>
          <a:xfrm>
            <a:off x="548640" y="1143000"/>
            <a:ext cx="4572000" cy="1920240"/>
          </a:xfrm>
          <a:prstGeom prst="rect">
            <a:avLst/>
          </a:prstGeom>
          <a:noFill/>
          <a:ln/>
        </p:spPr>
        <p:txBody>
          <a:bodyPr wrap="square" rtlCol="0" anchor="t"/>
          <a:lstStyle/>
          <a:p>
            <a:pPr algn="r" indent="0" marL="0">
              <a:lnSpc>
                <a:spcPct val="115000"/>
              </a:lnSpc>
              <a:buNone/>
            </a:pPr>
            <a:r>
              <a:rPr lang="en-US" sz="1400" b="1" dirty="0">
                <a:solidFill>
                  <a:srgbClr val="38BDF8"/>
                </a:solidFill>
                <a:latin typeface="Arial" pitchFamily="34" charset="0"/>
                <a:ea typeface="Arial" pitchFamily="34" charset="-122"/>
                <a:cs typeface="Arial" pitchFamily="34" charset="-120"/>
              </a:rPr>
              <a:t>العشوائية والتشابك الخفي خلف الواجهات اللامعة
</a:t>
            </a:r>
            <a:endParaRPr lang="en-US" sz="1400" dirty="0"/>
          </a:p>
          <a:p>
            <a:pPr algn="r" indent="0" marL="0">
              <a:lnSpc>
                <a:spcPct val="115000"/>
              </a:lnSpc>
              <a:buNone/>
            </a:pPr>
            <a:r>
              <a:rPr lang="en-US" sz="1100" dirty="0">
                <a:solidFill>
                  <a:srgbClr val="F8FAFC"/>
                </a:solidFill>
                <a:latin typeface="Arial" pitchFamily="34" charset="0"/>
                <a:ea typeface="Arial" pitchFamily="34" charset="-122"/>
                <a:cs typeface="Arial" pitchFamily="34" charset="-120"/>
              </a:rPr>
              <a:t>الذكاء الاصطناعي عبارة عن نموذج إحصائي احتمالي؛ هو يكتب لك كوداً يحقق النتيجة المطلوبة والظاهرية الآن لتنبهر بالسرعة الفورية.
</a:t>
            </a:r>
            <a:endParaRPr lang="en-US" sz="1400" dirty="0"/>
          </a:p>
          <a:p>
            <a:pPr algn="r" indent="0" marL="0">
              <a:lnSpc>
                <a:spcPct val="115000"/>
              </a:lnSpc>
              <a:buNone/>
            </a:pPr>
            <a:r>
              <a:rPr lang="en-US" sz="1100" dirty="0">
                <a:solidFill>
                  <a:srgbClr val="94A3B8"/>
                </a:solidFill>
                <a:latin typeface="Arial" pitchFamily="34" charset="0"/>
                <a:ea typeface="Arial" pitchFamily="34" charset="-122"/>
                <a:cs typeface="Arial" pitchFamily="34" charset="-120"/>
              </a:rPr>
              <a:t>لكنه يفتقر تماماً للنظرة الهندسية المستقبلية البنيوية؛ فهو لا يصمم كوداً مرناً وقابلاً للتوسع (Scalable) أو يتحمل تغير متطلبات الأعمال غداً.</a:t>
            </a:r>
            <a:endParaRPr lang="en-US" sz="1400" dirty="0"/>
          </a:p>
        </p:txBody>
      </p:sp>
      <p:sp>
        <p:nvSpPr>
          <p:cNvPr id="7" name="Shape 5"/>
          <p:cNvSpPr/>
          <p:nvPr/>
        </p:nvSpPr>
        <p:spPr>
          <a:xfrm>
            <a:off x="457200" y="3291840"/>
            <a:ext cx="4846320" cy="640080"/>
          </a:xfrm>
          <a:prstGeom prst="rect">
            <a:avLst/>
          </a:prstGeom>
          <a:solidFill>
            <a:srgbClr val="10B981">
              <a:alpha val="10000"/>
            </a:srgbClr>
          </a:solidFill>
          <a:ln/>
        </p:spPr>
      </p:sp>
      <p:sp>
        <p:nvSpPr>
          <p:cNvPr id="8" name="Shape 6"/>
          <p:cNvSpPr/>
          <p:nvPr/>
        </p:nvSpPr>
        <p:spPr>
          <a:xfrm>
            <a:off x="5248656" y="3291840"/>
            <a:ext cx="54864" cy="640080"/>
          </a:xfrm>
          <a:prstGeom prst="rect">
            <a:avLst/>
          </a:prstGeom>
          <a:solidFill>
            <a:srgbClr val="10B981"/>
          </a:solidFill>
          <a:ln/>
        </p:spPr>
      </p:sp>
      <p:sp>
        <p:nvSpPr>
          <p:cNvPr id="9" name="Text 7"/>
          <p:cNvSpPr/>
          <p:nvPr/>
        </p:nvSpPr>
        <p:spPr>
          <a:xfrm>
            <a:off x="548640" y="3291840"/>
            <a:ext cx="4663440" cy="640080"/>
          </a:xfrm>
          <a:prstGeom prst="rect">
            <a:avLst/>
          </a:prstGeom>
          <a:noFill/>
          <a:ln/>
        </p:spPr>
        <p:txBody>
          <a:bodyPr wrap="square" rtlCol="0" anchor="ctr"/>
          <a:lstStyle/>
          <a:p>
            <a:pPr rtl="1" algn="r" indent="0" marL="0">
              <a:buNone/>
            </a:pPr>
            <a:r>
              <a:rPr lang="en-US" sz="1200" b="1" dirty="0">
                <a:solidFill>
                  <a:srgbClr val="F8FAFC"/>
                </a:solidFill>
                <a:latin typeface="Arial" pitchFamily="34" charset="0"/>
                <a:ea typeface="Arial" pitchFamily="34" charset="-122"/>
                <a:cs typeface="Arial" pitchFamily="34" charset="-120"/>
              </a:rPr>
              <a:t>الحل الهندسي والدرع الواقي: تبني وتطبيق الـ Clean Architecture ومبادئ SOLID البرمجية الصارمة.</a:t>
            </a:r>
            <a:endParaRPr lang="en-US" sz="1200" dirty="0"/>
          </a:p>
        </p:txBody>
      </p:sp>
      <p:pic>
        <p:nvPicPr>
          <p:cNvPr id="10" name="Image 0" descr="/sessions/magical-eager-hopper/mnt/عرض/servers.jpg">    </p:cNvPr>
          <p:cNvPicPr>
            <a:picLocks noChangeAspect="1"/>
          </p:cNvPicPr>
          <p:nvPr/>
        </p:nvPicPr>
        <p:blipFill>
          <a:blip r:embed="rId1"/>
          <a:srcRect l="0" r="0" t="0" b="0"/>
          <a:stretch/>
        </p:blipFill>
        <p:spPr>
          <a:xfrm>
            <a:off x="5669280" y="1097280"/>
            <a:ext cx="3017520" cy="3200400"/>
          </a:xfrm>
          <a:prstGeom prst="rect">
            <a:avLst/>
          </a:prstGeom>
        </p:spPr>
      </p:pic>
      <p:sp>
        <p:nvSpPr>
          <p:cNvPr id="11" name="Shape 8"/>
          <p:cNvSpPr/>
          <p:nvPr/>
        </p:nvSpPr>
        <p:spPr>
          <a:xfrm>
            <a:off x="7178040" y="4434840"/>
            <a:ext cx="54864" cy="594360"/>
          </a:xfrm>
          <a:prstGeom prst="rect">
            <a:avLst/>
          </a:prstGeom>
          <a:solidFill>
            <a:srgbClr val="10B981"/>
          </a:solidFill>
          <a:ln/>
        </p:spPr>
      </p:sp>
      <p:sp>
        <p:nvSpPr>
          <p:cNvPr id="12" name="Text 9"/>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الثاني | </a:t>
            </a:r>
            <a:pPr algn="r" indent="0" marL="0">
              <a:buNone/>
            </a:pPr>
            <a:r>
              <a:rPr lang="en-US" sz="2600" b="1" dirty="0">
                <a:solidFill>
                  <a:srgbClr val="10B981"/>
                </a:solidFill>
                <a:latin typeface="Arial" pitchFamily="34" charset="0"/>
                <a:ea typeface="Arial" pitchFamily="34" charset="-122"/>
                <a:cs typeface="Arial" pitchFamily="34" charset="-120"/>
              </a:rPr>
              <a:t>مثال 1: قصة تطبيق إدارة الصيدلية المنهار</a:t>
            </a:r>
            <a:endParaRPr lang="en-US" sz="2600" dirty="0"/>
          </a:p>
        </p:txBody>
      </p:sp>
      <p:sp>
        <p:nvSpPr>
          <p:cNvPr id="4" name="Shape 2"/>
          <p:cNvSpPr/>
          <p:nvPr/>
        </p:nvSpPr>
        <p:spPr>
          <a:xfrm>
            <a:off x="457200" y="1097280"/>
            <a:ext cx="8229600" cy="3200400"/>
          </a:xfrm>
          <a:prstGeom prst="rect">
            <a:avLst/>
          </a:prstGeom>
          <a:solidFill>
            <a:srgbClr val="EF4444">
              <a:alpha val="8000"/>
            </a:srgbClr>
          </a:solidFill>
          <a:ln/>
        </p:spPr>
      </p:sp>
      <p:sp>
        <p:nvSpPr>
          <p:cNvPr id="5" name="Shape 3"/>
          <p:cNvSpPr/>
          <p:nvPr/>
        </p:nvSpPr>
        <p:spPr>
          <a:xfrm>
            <a:off x="8631936" y="1097280"/>
            <a:ext cx="54864" cy="3200400"/>
          </a:xfrm>
          <a:prstGeom prst="rect">
            <a:avLst/>
          </a:prstGeom>
          <a:solidFill>
            <a:srgbClr val="EF4444"/>
          </a:solidFill>
          <a:ln/>
        </p:spPr>
      </p:sp>
      <p:sp>
        <p:nvSpPr>
          <p:cNvPr id="6" name="Text 4"/>
          <p:cNvSpPr/>
          <p:nvPr/>
        </p:nvSpPr>
        <p:spPr>
          <a:xfrm>
            <a:off x="640080" y="1234440"/>
            <a:ext cx="7772400" cy="2926080"/>
          </a:xfrm>
          <a:prstGeom prst="rect">
            <a:avLst/>
          </a:prstGeom>
          <a:noFill/>
          <a:ln/>
        </p:spPr>
        <p:txBody>
          <a:bodyPr wrap="square" rtlCol="0" anchor="t"/>
          <a:lstStyle/>
          <a:p>
            <a:pPr algn="r" indent="0" marL="0">
              <a:lnSpc>
                <a:spcPct val="115000"/>
              </a:lnSpc>
              <a:buNone/>
            </a:pPr>
            <a:r>
              <a:rPr lang="en-US" sz="1600" b="1" dirty="0">
                <a:solidFill>
                  <a:srgbClr val="EF4444"/>
                </a:solidFill>
                <a:latin typeface="Arial" pitchFamily="34" charset="0"/>
                <a:ea typeface="Arial" pitchFamily="34" charset="-122"/>
                <a:cs typeface="Arial" pitchFamily="34" charset="-120"/>
              </a:rPr>
              <a:t>كود يعمل اليوم.. والسيستم يدفن غداً!
</a:t>
            </a:r>
            <a:endParaRPr lang="en-US" sz="1600" dirty="0"/>
          </a:p>
          <a:p>
            <a:pPr algn="r" indent="0" marL="0">
              <a:lnSpc>
                <a:spcPct val="115000"/>
              </a:lnSpc>
              <a:buNone/>
            </a:pPr>
            <a:r>
              <a:rPr lang="en-US" sz="1200" dirty="0">
                <a:solidFill>
                  <a:srgbClr val="F8FAFC"/>
                </a:solidFill>
                <a:latin typeface="Arial" pitchFamily="34" charset="0"/>
                <a:ea typeface="Arial" pitchFamily="34" charset="-122"/>
                <a:cs typeface="Arial" pitchFamily="34" charset="-120"/>
              </a:rPr>
              <a:t>تم الاستعانة بالذكاء الاصطناعي لبناء تطبيق صيدلية متكامل، التطبيق خرج للعمل وكان يعمل ظاهرياً بشكل ممتاز، ولكن هيكله الداخلي كان متداخلاً ومتشابكاً كالعجينة البرمجية الميتة.
</a:t>
            </a:r>
            <a:endParaRPr lang="en-US" sz="1600" dirty="0"/>
          </a:p>
          <a:p>
            <a:pPr algn="r" indent="0" marL="0">
              <a:lnSpc>
                <a:spcPct val="115000"/>
              </a:lnSpc>
              <a:buNone/>
            </a:pPr>
            <a:r>
              <a:rPr lang="en-US" sz="1300" b="1" dirty="0">
                <a:solidFill>
                  <a:srgbClr val="F8FAFC"/>
                </a:solidFill>
                <a:latin typeface="Arial" pitchFamily="34" charset="0"/>
                <a:ea typeface="Arial" pitchFamily="34" charset="-122"/>
                <a:cs typeface="Arial" pitchFamily="34" charset="-120"/>
              </a:rPr>
              <a:t>صدمة الواقع بعد شهرين فقط من التشغيل:
</a:t>
            </a:r>
            <a:endParaRPr lang="en-US" sz="1600" dirty="0"/>
          </a:p>
          <a:p>
            <a:pPr algn="r" indent="0" marL="0">
              <a:lnSpc>
                <a:spcPct val="115000"/>
              </a:lnSpc>
              <a:buNone/>
            </a:pPr>
            <a:r>
              <a:rPr lang="en-US" sz="1200" dirty="0">
                <a:solidFill>
                  <a:srgbClr val="F8FAFC"/>
                </a:solidFill>
                <a:latin typeface="Arial" pitchFamily="34" charset="0"/>
                <a:ea typeface="Arial" pitchFamily="34" charset="-122"/>
                <a:cs typeface="Arial" pitchFamily="34" charset="-120"/>
              </a:rPr>
              <a:t>طلب صاحب الصيدلية تعديل ميزة مالية بسيطة جداً (إضافة ضريبة القيمة المضافة على الفاتورة). بمجرد تعديل وإدخال سطر الكود في مكان واحد، انهار وتوقف السيستم بالكامل في كل الفروع! لأن الكود عشوائي وتغيير جزء أفسد 10 أجزاء أخرى لغياب الفصل المعماري.</a:t>
            </a:r>
            <a:endParaRPr lang="en-US" sz="1600" dirty="0"/>
          </a:p>
        </p:txBody>
      </p:sp>
      <p:sp>
        <p:nvSpPr>
          <p:cNvPr id="7" name="Shape 5"/>
          <p:cNvSpPr/>
          <p:nvPr/>
        </p:nvSpPr>
        <p:spPr>
          <a:xfrm>
            <a:off x="7178040" y="4434840"/>
            <a:ext cx="54864" cy="594360"/>
          </a:xfrm>
          <a:prstGeom prst="rect">
            <a:avLst/>
          </a:prstGeom>
          <a:solidFill>
            <a:srgbClr val="10B981"/>
          </a:solidFill>
          <a:ln/>
        </p:spPr>
      </p:sp>
      <p:sp>
        <p:nvSpPr>
          <p:cNvPr id="8" name="Text 6"/>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الثاني | </a:t>
            </a:r>
            <a:pPr algn="r" indent="0" marL="0">
              <a:buNone/>
            </a:pPr>
            <a:r>
              <a:rPr lang="en-US" sz="2600" b="1" dirty="0">
                <a:solidFill>
                  <a:srgbClr val="10B981"/>
                </a:solidFill>
                <a:latin typeface="Arial" pitchFamily="34" charset="0"/>
                <a:ea typeface="Arial" pitchFamily="34" charset="-122"/>
                <a:cs typeface="Arial" pitchFamily="34" charset="-120"/>
              </a:rPr>
              <a:t>مثال 2: دراسة حالة (Lens vs Moltbook)</a:t>
            </a:r>
            <a:endParaRPr lang="en-US" sz="2600" dirty="0"/>
          </a:p>
        </p:txBody>
      </p:sp>
      <p:sp>
        <p:nvSpPr>
          <p:cNvPr id="4" name="Text 2"/>
          <p:cNvSpPr/>
          <p:nvPr/>
        </p:nvSpPr>
        <p:spPr>
          <a:xfrm>
            <a:off x="457200" y="1051560"/>
            <a:ext cx="8229600" cy="365760"/>
          </a:xfrm>
          <a:prstGeom prst="rect">
            <a:avLst/>
          </a:prstGeom>
          <a:noFill/>
          <a:ln/>
        </p:spPr>
        <p:txBody>
          <a:bodyPr wrap="square" rtlCol="0" anchor="ctr"/>
          <a:lstStyle/>
          <a:p>
            <a:pPr rtl="1" algn="r" indent="0" marL="0">
              <a:buNone/>
            </a:pPr>
            <a:r>
              <a:rPr lang="en-US" sz="1300" dirty="0">
                <a:solidFill>
                  <a:srgbClr val="94A3B8"/>
                </a:solidFill>
                <a:latin typeface="Arial" pitchFamily="34" charset="0"/>
                <a:ea typeface="Arial" pitchFamily="34" charset="-122"/>
                <a:cs typeface="Arial" pitchFamily="34" charset="-120"/>
              </a:rPr>
              <a:t>أداتان مبنيتان بنفس التكنولوجيا المتاحة للجميع، ولكن النتائج كانت متناقضة تماماً ومثيرة للاهتمام:</a:t>
            </a:r>
            <a:endParaRPr lang="en-US" sz="1300" dirty="0"/>
          </a:p>
        </p:txBody>
      </p:sp>
      <p:sp>
        <p:nvSpPr>
          <p:cNvPr id="5" name="Shape 3"/>
          <p:cNvSpPr/>
          <p:nvPr/>
        </p:nvSpPr>
        <p:spPr>
          <a:xfrm>
            <a:off x="457200" y="1554480"/>
            <a:ext cx="3977640" cy="2560320"/>
          </a:xfrm>
          <a:prstGeom prst="rect">
            <a:avLst/>
          </a:prstGeom>
          <a:solidFill>
            <a:srgbClr val="EF4444">
              <a:alpha val="3000"/>
            </a:srgbClr>
          </a:solidFill>
          <a:ln w="6350">
            <a:solidFill>
              <a:srgbClr val="1E293B"/>
            </a:solidFill>
            <a:prstDash val="solid"/>
          </a:ln>
        </p:spPr>
      </p:sp>
      <p:sp>
        <p:nvSpPr>
          <p:cNvPr id="6" name="Shape 4"/>
          <p:cNvSpPr/>
          <p:nvPr/>
        </p:nvSpPr>
        <p:spPr>
          <a:xfrm>
            <a:off x="457200" y="1554480"/>
            <a:ext cx="3977640" cy="54864"/>
          </a:xfrm>
          <a:prstGeom prst="rect">
            <a:avLst/>
          </a:prstGeom>
          <a:solidFill>
            <a:srgbClr val="EF4444"/>
          </a:solidFill>
          <a:ln/>
        </p:spPr>
      </p:sp>
      <p:sp>
        <p:nvSpPr>
          <p:cNvPr id="7" name="Text 5"/>
          <p:cNvSpPr/>
          <p:nvPr/>
        </p:nvSpPr>
        <p:spPr>
          <a:xfrm>
            <a:off x="548640" y="1691640"/>
            <a:ext cx="3794760" cy="365760"/>
          </a:xfrm>
          <a:prstGeom prst="rect">
            <a:avLst/>
          </a:prstGeom>
          <a:noFill/>
          <a:ln/>
        </p:spPr>
        <p:txBody>
          <a:bodyPr wrap="square" rtlCol="0" anchor="ctr"/>
          <a:lstStyle/>
          <a:p>
            <a:pPr rtl="1" algn="r" indent="0" marL="0">
              <a:buNone/>
            </a:pPr>
            <a:r>
              <a:rPr lang="en-US" sz="1300" b="1" dirty="0">
                <a:solidFill>
                  <a:srgbClr val="EF4444"/>
                </a:solidFill>
                <a:latin typeface="Arial" pitchFamily="34" charset="0"/>
                <a:ea typeface="Arial" pitchFamily="34" charset="-122"/>
                <a:cs typeface="Arial" pitchFamily="34" charset="-120"/>
              </a:rPr>
              <a:t>تطبيق Moltbook (الذكاء الاصطناعي يقود)</a:t>
            </a:r>
            <a:endParaRPr lang="en-US" sz="1300" dirty="0"/>
          </a:p>
        </p:txBody>
      </p:sp>
      <p:sp>
        <p:nvSpPr>
          <p:cNvPr id="8" name="Text 6"/>
          <p:cNvSpPr/>
          <p:nvPr/>
        </p:nvSpPr>
        <p:spPr>
          <a:xfrm>
            <a:off x="548640" y="2148840"/>
            <a:ext cx="3794760" cy="1828800"/>
          </a:xfrm>
          <a:prstGeom prst="rect">
            <a:avLst/>
          </a:prstGeom>
          <a:noFill/>
          <a:ln/>
        </p:spPr>
        <p:txBody>
          <a:bodyPr wrap="square" rtlCol="0" anchor="ctr"/>
          <a:lstStyle/>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المبرمج لم يختبر، لم يراجع، ولم يدقق الأكواد نهائياً.
</a:t>
            </a:r>
            <a:endParaRPr lang="en-US" sz="1000" dirty="0"/>
          </a:p>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إصدار واحد فوري ومباشر (اضغط Enter وانتظر المعجزة).
</a:t>
            </a:r>
            <a:endParaRPr lang="en-US" sz="1000" dirty="0"/>
          </a:p>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النتيجة: انهيار كامل وثغرات أمنية قاتلة وموت المشروع خلال 3 أيام.</a:t>
            </a:r>
            <a:endParaRPr lang="en-US" sz="1000" dirty="0"/>
          </a:p>
        </p:txBody>
      </p:sp>
      <p:sp>
        <p:nvSpPr>
          <p:cNvPr id="9" name="Shape 7"/>
          <p:cNvSpPr/>
          <p:nvPr/>
        </p:nvSpPr>
        <p:spPr>
          <a:xfrm>
            <a:off x="4709160" y="1554480"/>
            <a:ext cx="3977640" cy="2560320"/>
          </a:xfrm>
          <a:prstGeom prst="rect">
            <a:avLst/>
          </a:prstGeom>
          <a:solidFill>
            <a:srgbClr val="10B981">
              <a:alpha val="3000"/>
            </a:srgbClr>
          </a:solidFill>
          <a:ln w="6350">
            <a:solidFill>
              <a:srgbClr val="1E293B"/>
            </a:solidFill>
            <a:prstDash val="solid"/>
          </a:ln>
        </p:spPr>
      </p:sp>
      <p:sp>
        <p:nvSpPr>
          <p:cNvPr id="10" name="Shape 8"/>
          <p:cNvSpPr/>
          <p:nvPr/>
        </p:nvSpPr>
        <p:spPr>
          <a:xfrm>
            <a:off x="4709160" y="1554480"/>
            <a:ext cx="3977640" cy="54864"/>
          </a:xfrm>
          <a:prstGeom prst="rect">
            <a:avLst/>
          </a:prstGeom>
          <a:solidFill>
            <a:srgbClr val="10B981"/>
          </a:solidFill>
          <a:ln/>
        </p:spPr>
      </p:sp>
      <p:sp>
        <p:nvSpPr>
          <p:cNvPr id="11" name="Text 9"/>
          <p:cNvSpPr/>
          <p:nvPr/>
        </p:nvSpPr>
        <p:spPr>
          <a:xfrm>
            <a:off x="4800600" y="1691640"/>
            <a:ext cx="3794760" cy="365760"/>
          </a:xfrm>
          <a:prstGeom prst="rect">
            <a:avLst/>
          </a:prstGeom>
          <a:noFill/>
          <a:ln/>
        </p:spPr>
        <p:txBody>
          <a:bodyPr wrap="square" rtlCol="0" anchor="ctr"/>
          <a:lstStyle/>
          <a:p>
            <a:pPr rtl="1" algn="r" indent="0" marL="0">
              <a:buNone/>
            </a:pPr>
            <a:r>
              <a:rPr lang="en-US" sz="1300" b="1" dirty="0">
                <a:solidFill>
                  <a:srgbClr val="10B981"/>
                </a:solidFill>
                <a:latin typeface="Arial" pitchFamily="34" charset="0"/>
                <a:ea typeface="Arial" pitchFamily="34" charset="-122"/>
                <a:cs typeface="Arial" pitchFamily="34" charset="-120"/>
              </a:rPr>
              <a:t>تطبيق Lens &amp; Motion (المهندس البشري يقود)</a:t>
            </a:r>
            <a:endParaRPr lang="en-US" sz="1300" dirty="0"/>
          </a:p>
        </p:txBody>
      </p:sp>
      <p:sp>
        <p:nvSpPr>
          <p:cNvPr id="12" name="Text 10"/>
          <p:cNvSpPr/>
          <p:nvPr/>
        </p:nvSpPr>
        <p:spPr>
          <a:xfrm>
            <a:off x="4800600" y="2148840"/>
            <a:ext cx="3794760" cy="1828800"/>
          </a:xfrm>
          <a:prstGeom prst="rect">
            <a:avLst/>
          </a:prstGeom>
          <a:noFill/>
          <a:ln/>
        </p:spPr>
        <p:txBody>
          <a:bodyPr wrap="square" rtlCol="0" anchor="ctr"/>
          <a:lstStyle/>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هندسة واعية وتقسيم دقيق؛ تم إطلاق 8 إصدارات تتابعية ومحسنة.
</a:t>
            </a:r>
            <a:endParaRPr lang="en-US" sz="1000" dirty="0"/>
          </a:p>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اختبار وفحص دقيق وصارم لكل إصدار برمجي على حدة.
</a:t>
            </a:r>
            <a:endParaRPr lang="en-US" sz="1000" dirty="0"/>
          </a:p>
          <a:p>
            <a:pPr algn="r" indent="0" marL="0">
              <a:lnSpc>
                <a:spcPct val="140000"/>
              </a:lnSpc>
              <a:buNone/>
            </a:pPr>
            <a:r>
              <a:rPr lang="en-US" sz="1000" dirty="0">
                <a:solidFill>
                  <a:srgbClr val="F8FAFC"/>
                </a:solidFill>
                <a:latin typeface="Arial" pitchFamily="34" charset="0"/>
                <a:ea typeface="Arial" pitchFamily="34" charset="-122"/>
                <a:cs typeface="Arial" pitchFamily="34" charset="-120"/>
              </a:rPr>
              <a:t>✨ النتيجة: أداة برمجية ثابتة، عالية الأمان، وتعمل كمنتج حقيقي مستدام.</a:t>
            </a:r>
            <a:endParaRPr lang="en-US" sz="1000" dirty="0"/>
          </a:p>
        </p:txBody>
      </p:sp>
      <p:sp>
        <p:nvSpPr>
          <p:cNvPr id="13" name="Shape 11"/>
          <p:cNvSpPr/>
          <p:nvPr/>
        </p:nvSpPr>
        <p:spPr>
          <a:xfrm>
            <a:off x="7178040" y="4434840"/>
            <a:ext cx="54864" cy="594360"/>
          </a:xfrm>
          <a:prstGeom prst="rect">
            <a:avLst/>
          </a:prstGeom>
          <a:solidFill>
            <a:srgbClr val="10B981"/>
          </a:solidFill>
          <a:ln/>
        </p:spPr>
      </p:sp>
      <p:sp>
        <p:nvSpPr>
          <p:cNvPr id="14" name="Text 12"/>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الثالث: </a:t>
            </a:r>
            <a:pPr algn="r" indent="0" marL="0">
              <a:buNone/>
            </a:pPr>
            <a:r>
              <a:rPr lang="en-US" sz="2600" b="1" dirty="0">
                <a:solidFill>
                  <a:srgbClr val="10B981"/>
                </a:solidFill>
                <a:latin typeface="Arial" pitchFamily="34" charset="0"/>
                <a:ea typeface="Arial" pitchFamily="34" charset="-122"/>
                <a:cs typeface="Arial" pitchFamily="34" charset="-120"/>
              </a:rPr>
              <a:t>عقدة الخوف من البطء والإحباط المبكر</a:t>
            </a:r>
            <a:endParaRPr lang="en-US" sz="2600" dirty="0"/>
          </a:p>
        </p:txBody>
      </p:sp>
      <p:sp>
        <p:nvSpPr>
          <p:cNvPr id="4" name="Text 2"/>
          <p:cNvSpPr/>
          <p:nvPr/>
        </p:nvSpPr>
        <p:spPr>
          <a:xfrm>
            <a:off x="457200" y="1097280"/>
            <a:ext cx="5029200" cy="411480"/>
          </a:xfrm>
          <a:prstGeom prst="rect">
            <a:avLst/>
          </a:prstGeom>
          <a:noFill/>
          <a:ln/>
        </p:spPr>
        <p:txBody>
          <a:bodyPr wrap="square" rtlCol="0" anchor="ctr"/>
          <a:lstStyle/>
          <a:p>
            <a:pPr rtl="1" algn="r" indent="0" marL="0">
              <a:buNone/>
            </a:pPr>
            <a:r>
              <a:rPr lang="en-US" sz="1500" b="1" dirty="0">
                <a:solidFill>
                  <a:srgbClr val="FACC15"/>
                </a:solidFill>
                <a:latin typeface="Arial" pitchFamily="34" charset="0"/>
                <a:ea typeface="Arial" pitchFamily="34" charset="-122"/>
                <a:cs typeface="Arial" pitchFamily="34" charset="-120"/>
              </a:rPr>
              <a:t>الآلة تخرج مشروعاً بثانية.. وأنت تقضي ساعات لتفهم سطر كود!</a:t>
            </a:r>
            <a:endParaRPr lang="en-US" sz="1500" dirty="0"/>
          </a:p>
        </p:txBody>
      </p:sp>
      <p:sp>
        <p:nvSpPr>
          <p:cNvPr id="5" name="Text 3"/>
          <p:cNvSpPr/>
          <p:nvPr/>
        </p:nvSpPr>
        <p:spPr>
          <a:xfrm>
            <a:off x="457200" y="1600200"/>
            <a:ext cx="5029200" cy="640080"/>
          </a:xfrm>
          <a:prstGeom prst="rect">
            <a:avLst/>
          </a:prstGeom>
          <a:noFill/>
          <a:ln/>
        </p:spPr>
        <p:txBody>
          <a:bodyPr wrap="square" rtlCol="0" anchor="ctr"/>
          <a:lstStyle/>
          <a:p>
            <a:pPr rtl="1" algn="r" indent="0" marL="0">
              <a:lnSpc>
                <a:spcPct val="130000"/>
              </a:lnSpc>
              <a:buNone/>
            </a:pPr>
            <a:r>
              <a:rPr lang="en-US" sz="1200" dirty="0">
                <a:solidFill>
                  <a:srgbClr val="F8FAFC"/>
                </a:solidFill>
                <a:latin typeface="Arial" pitchFamily="34" charset="0"/>
                <a:ea typeface="Arial" pitchFamily="34" charset="-122"/>
                <a:cs typeface="Arial" pitchFamily="34" charset="-120"/>
              </a:rPr>
              <a:t>هذا الشعور بالإحباط والتوتر المقارن يصيب أغلب الطلاب في بداية طريقهم، ويجعلهم يظنون خطأً أنهم غير صالحين للمجال.</a:t>
            </a:r>
            <a:endParaRPr lang="en-US" sz="1200" dirty="0"/>
          </a:p>
        </p:txBody>
      </p:sp>
      <p:sp>
        <p:nvSpPr>
          <p:cNvPr id="6" name="Shape 4"/>
          <p:cNvSpPr/>
          <p:nvPr/>
        </p:nvSpPr>
        <p:spPr>
          <a:xfrm>
            <a:off x="457200" y="2423160"/>
            <a:ext cx="5029200" cy="1371600"/>
          </a:xfrm>
          <a:prstGeom prst="rect">
            <a:avLst/>
          </a:prstGeom>
          <a:solidFill>
            <a:srgbClr val="38BDF8">
              <a:alpha val="8000"/>
            </a:srgbClr>
          </a:solidFill>
          <a:ln/>
        </p:spPr>
      </p:sp>
      <p:sp>
        <p:nvSpPr>
          <p:cNvPr id="7" name="Shape 5"/>
          <p:cNvSpPr/>
          <p:nvPr/>
        </p:nvSpPr>
        <p:spPr>
          <a:xfrm>
            <a:off x="5431536" y="2423160"/>
            <a:ext cx="54864" cy="1371600"/>
          </a:xfrm>
          <a:prstGeom prst="rect">
            <a:avLst/>
          </a:prstGeom>
          <a:solidFill>
            <a:srgbClr val="38BDF8"/>
          </a:solidFill>
          <a:ln/>
        </p:spPr>
      </p:sp>
      <p:sp>
        <p:nvSpPr>
          <p:cNvPr id="8" name="Text 6"/>
          <p:cNvSpPr/>
          <p:nvPr/>
        </p:nvSpPr>
        <p:spPr>
          <a:xfrm>
            <a:off x="548640" y="2468880"/>
            <a:ext cx="4846320" cy="1280160"/>
          </a:xfrm>
          <a:prstGeom prst="rect">
            <a:avLst/>
          </a:prstGeom>
          <a:noFill/>
          <a:ln/>
        </p:spPr>
        <p:txBody>
          <a:bodyPr wrap="square" rtlCol="0" anchor="ctr"/>
          <a:lstStyle/>
          <a:p>
            <a:pPr rtl="1" algn="r" indent="0" marL="0">
              <a:lnSpc>
                <a:spcPct val="130000"/>
              </a:lnSpc>
              <a:buNone/>
            </a:pPr>
            <a:r>
              <a:rPr lang="en-US" sz="1100" dirty="0">
                <a:solidFill>
                  <a:srgbClr val="F8FAFC"/>
                </a:solidFill>
                <a:latin typeface="Arial" pitchFamily="34" charset="0"/>
                <a:ea typeface="Arial" pitchFamily="34" charset="-122"/>
                <a:cs typeface="Arial" pitchFamily="34" charset="-120"/>
              </a:rPr>
              <a:t>الحقيقة العلمية المريحة: البطء اليوم في بداية طريقك ليس دليلاً على ضعف قدراتك الذاتية — بل هو العملية الحيوية الإجبارية الوحيدة لبناء عقلية ومنطق "المهندس الحقيقي" في داخلك وتثبيت المفاهيم الهيكلية.</a:t>
            </a:r>
            <a:endParaRPr lang="en-US" sz="1100" dirty="0"/>
          </a:p>
        </p:txBody>
      </p:sp>
      <p:pic>
        <p:nvPicPr>
          <p:cNvPr id="9" name="Image 0" descr="/sessions/magical-eager-hopper/mnt/عرض/child.jpg">    </p:cNvPr>
          <p:cNvPicPr>
            <a:picLocks noChangeAspect="1"/>
          </p:cNvPicPr>
          <p:nvPr/>
        </p:nvPicPr>
        <p:blipFill>
          <a:blip r:embed="rId1"/>
          <a:srcRect l="0" r="0" t="0" b="0"/>
          <a:stretch/>
        </p:blipFill>
        <p:spPr>
          <a:xfrm>
            <a:off x="5760720" y="1097280"/>
            <a:ext cx="2926080" cy="3200400"/>
          </a:xfrm>
          <a:prstGeom prst="rect">
            <a:avLst/>
          </a:prstGeom>
        </p:spPr>
      </p:pic>
      <p:sp>
        <p:nvSpPr>
          <p:cNvPr id="10" name="Shape 7"/>
          <p:cNvSpPr/>
          <p:nvPr/>
        </p:nvSpPr>
        <p:spPr>
          <a:xfrm>
            <a:off x="7178040" y="4434840"/>
            <a:ext cx="54864" cy="594360"/>
          </a:xfrm>
          <a:prstGeom prst="rect">
            <a:avLst/>
          </a:prstGeom>
          <a:solidFill>
            <a:srgbClr val="10B981"/>
          </a:solidFill>
          <a:ln/>
        </p:spPr>
      </p:sp>
      <p:sp>
        <p:nvSpPr>
          <p:cNvPr id="11" name="Text 8"/>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الثالث | </a:t>
            </a:r>
            <a:pPr algn="r" indent="0" marL="0">
              <a:buNone/>
            </a:pPr>
            <a:r>
              <a:rPr lang="en-US" sz="2600" b="1" dirty="0">
                <a:solidFill>
                  <a:srgbClr val="10B981"/>
                </a:solidFill>
                <a:latin typeface="Arial" pitchFamily="34" charset="0"/>
                <a:ea typeface="Arial" pitchFamily="34" charset="-122"/>
                <a:cs typeface="Arial" pitchFamily="34" charset="-120"/>
              </a:rPr>
              <a:t>مثال 1: معضلة الـ GPS والخرائط البشرية</a:t>
            </a:r>
            <a:endParaRPr lang="en-US" sz="2600" dirty="0"/>
          </a:p>
        </p:txBody>
      </p:sp>
      <p:sp>
        <p:nvSpPr>
          <p:cNvPr id="4" name="Text 2"/>
          <p:cNvSpPr/>
          <p:nvPr/>
        </p:nvSpPr>
        <p:spPr>
          <a:xfrm>
            <a:off x="457200" y="1051560"/>
            <a:ext cx="8229600" cy="320040"/>
          </a:xfrm>
          <a:prstGeom prst="rect">
            <a:avLst/>
          </a:prstGeom>
          <a:noFill/>
          <a:ln/>
        </p:spPr>
        <p:txBody>
          <a:bodyPr wrap="square" rtlCol="0" anchor="ctr"/>
          <a:lstStyle/>
          <a:p>
            <a:pPr rtl="1" algn="r" indent="0" marL="0">
              <a:buNone/>
            </a:pPr>
            <a:r>
              <a:rPr lang="en-US" sz="1300" dirty="0">
                <a:solidFill>
                  <a:srgbClr val="94A3B8"/>
                </a:solidFill>
                <a:latin typeface="Arial" pitchFamily="34" charset="0"/>
                <a:ea typeface="Arial" pitchFamily="34" charset="-122"/>
                <a:cs typeface="Arial" pitchFamily="34" charset="-120"/>
              </a:rPr>
              <a:t>تخيل معي شخصين غريبين دخلا مدينة جديدة وضخمة لأول مرة في حياتهما:</a:t>
            </a:r>
            <a:endParaRPr lang="en-US" sz="1300" dirty="0"/>
          </a:p>
        </p:txBody>
      </p:sp>
      <p:sp>
        <p:nvSpPr>
          <p:cNvPr id="5" name="Shape 3"/>
          <p:cNvSpPr/>
          <p:nvPr/>
        </p:nvSpPr>
        <p:spPr>
          <a:xfrm>
            <a:off x="457200" y="1508760"/>
            <a:ext cx="5029200" cy="1097280"/>
          </a:xfrm>
          <a:prstGeom prst="rect">
            <a:avLst/>
          </a:prstGeom>
          <a:solidFill>
            <a:srgbClr val="FFFFFF">
              <a:alpha val="3000"/>
            </a:srgbClr>
          </a:solidFill>
          <a:ln w="6350">
            <a:solidFill>
              <a:srgbClr val="1E293B"/>
            </a:solidFill>
            <a:prstDash val="solid"/>
          </a:ln>
        </p:spPr>
      </p:sp>
      <p:sp>
        <p:nvSpPr>
          <p:cNvPr id="6" name="Text 4"/>
          <p:cNvSpPr/>
          <p:nvPr/>
        </p:nvSpPr>
        <p:spPr>
          <a:xfrm>
            <a:off x="548640" y="1554480"/>
            <a:ext cx="4846320" cy="1005840"/>
          </a:xfrm>
          <a:prstGeom prst="rect">
            <a:avLst/>
          </a:prstGeom>
          <a:noFill/>
          <a:ln/>
        </p:spPr>
        <p:txBody>
          <a:bodyPr wrap="square" rtlCol="0" anchor="t"/>
          <a:lstStyle/>
          <a:p>
            <a:pPr algn="r" indent="0" marL="0">
              <a:lnSpc>
                <a:spcPct val="120000"/>
              </a:lnSpc>
              <a:buNone/>
            </a:pPr>
            <a:r>
              <a:rPr lang="en-US" sz="1200" b="1" dirty="0">
                <a:solidFill>
                  <a:srgbClr val="38BDF8"/>
                </a:solidFill>
                <a:latin typeface="Arial" pitchFamily="34" charset="0"/>
                <a:ea typeface="Arial" pitchFamily="34" charset="-122"/>
                <a:cs typeface="Arial" pitchFamily="34" charset="-120"/>
              </a:rPr>
              <a:t>الشخص الأول (اعتمد كلياً على الـ GPS)
</a:t>
            </a:r>
            <a:endParaRPr lang="en-US" sz="1200" dirty="0"/>
          </a:p>
          <a:p>
            <a:pPr algn="r" indent="0" marL="0">
              <a:lnSpc>
                <a:spcPct val="120000"/>
              </a:lnSpc>
              <a:buNone/>
            </a:pPr>
            <a:r>
              <a:rPr lang="en-US" sz="1000" dirty="0">
                <a:solidFill>
                  <a:srgbClr val="94A3B8"/>
                </a:solidFill>
                <a:latin typeface="Arial" pitchFamily="34" charset="0"/>
                <a:ea typeface="Arial" pitchFamily="34" charset="-122"/>
                <a:cs typeface="Arial" pitchFamily="34" charset="-120"/>
              </a:rPr>
              <a:t>تحرك بسرعة قياسية ووصل لكل الأماكن، ولكنه لم ينظر لاسم شارع أو يحفظ معلماً. الصدمة: بمجرد انقطاع الشبكة ← تاه وضاع تماماً!</a:t>
            </a:r>
            <a:endParaRPr lang="en-US" sz="1200" dirty="0"/>
          </a:p>
        </p:txBody>
      </p:sp>
      <p:sp>
        <p:nvSpPr>
          <p:cNvPr id="7" name="Shape 5"/>
          <p:cNvSpPr/>
          <p:nvPr/>
        </p:nvSpPr>
        <p:spPr>
          <a:xfrm>
            <a:off x="457200" y="2743200"/>
            <a:ext cx="5029200" cy="1097280"/>
          </a:xfrm>
          <a:prstGeom prst="rect">
            <a:avLst/>
          </a:prstGeom>
          <a:solidFill>
            <a:srgbClr val="FFFFFF">
              <a:alpha val="3000"/>
            </a:srgbClr>
          </a:solidFill>
          <a:ln w="6350">
            <a:solidFill>
              <a:srgbClr val="1E293B"/>
            </a:solidFill>
            <a:prstDash val="solid"/>
          </a:ln>
        </p:spPr>
      </p:sp>
      <p:sp>
        <p:nvSpPr>
          <p:cNvPr id="8" name="Text 6"/>
          <p:cNvSpPr/>
          <p:nvPr/>
        </p:nvSpPr>
        <p:spPr>
          <a:xfrm>
            <a:off x="548640" y="2788920"/>
            <a:ext cx="4846320" cy="1005840"/>
          </a:xfrm>
          <a:prstGeom prst="rect">
            <a:avLst/>
          </a:prstGeom>
          <a:noFill/>
          <a:ln/>
        </p:spPr>
        <p:txBody>
          <a:bodyPr wrap="square" rtlCol="0" anchor="t"/>
          <a:lstStyle/>
          <a:p>
            <a:pPr algn="r" indent="0" marL="0">
              <a:lnSpc>
                <a:spcPct val="120000"/>
              </a:lnSpc>
              <a:buNone/>
            </a:pPr>
            <a:r>
              <a:rPr lang="en-US" sz="1200" b="1" dirty="0">
                <a:solidFill>
                  <a:srgbClr val="10B981"/>
                </a:solidFill>
                <a:latin typeface="Arial" pitchFamily="34" charset="0"/>
                <a:ea typeface="Arial" pitchFamily="34" charset="-122"/>
                <a:cs typeface="Arial" pitchFamily="34" charset="-120"/>
              </a:rPr>
              <a:t>الشخص الثاني (مشى وتاه وقرأ الخريطة يدوياً)
</a:t>
            </a:r>
            <a:endParaRPr lang="en-US" sz="1200" dirty="0"/>
          </a:p>
          <a:p>
            <a:pPr algn="r" indent="0" marL="0">
              <a:lnSpc>
                <a:spcPct val="120000"/>
              </a:lnSpc>
              <a:buNone/>
            </a:pPr>
            <a:r>
              <a:rPr lang="en-US" sz="1000" dirty="0">
                <a:solidFill>
                  <a:srgbClr val="94A3B8"/>
                </a:solidFill>
                <a:latin typeface="Arial" pitchFamily="34" charset="0"/>
                <a:ea typeface="Arial" pitchFamily="34" charset="-122"/>
                <a:cs typeface="Arial" pitchFamily="34" charset="-120"/>
              </a:rPr>
              <a:t>وصل ببطء وتعب وتعثر، ولكنه بنى خريطة جغرافية حية داخل عقله وفهم معالم المدينة. النتيجة: مستحيل أن يضيع فيها أبداً!</a:t>
            </a:r>
            <a:endParaRPr lang="en-US" sz="1200" dirty="0"/>
          </a:p>
        </p:txBody>
      </p:sp>
      <p:pic>
        <p:nvPicPr>
          <p:cNvPr id="9" name="Image 0" descr="/sessions/magical-eager-hopper/mnt/عرض/map.jpg">    </p:cNvPr>
          <p:cNvPicPr>
            <a:picLocks noChangeAspect="1"/>
          </p:cNvPicPr>
          <p:nvPr/>
        </p:nvPicPr>
        <p:blipFill>
          <a:blip r:embed="rId1"/>
          <a:srcRect l="0" r="0" t="0" b="0"/>
          <a:stretch/>
        </p:blipFill>
        <p:spPr>
          <a:xfrm>
            <a:off x="5760720" y="1371600"/>
            <a:ext cx="2926080" cy="2560320"/>
          </a:xfrm>
          <a:prstGeom prst="rect">
            <a:avLst/>
          </a:prstGeom>
        </p:spPr>
      </p:pic>
      <p:sp>
        <p:nvSpPr>
          <p:cNvPr id="10" name="Text 7"/>
          <p:cNvSpPr/>
          <p:nvPr/>
        </p:nvSpPr>
        <p:spPr>
          <a:xfrm>
            <a:off x="457200" y="4114800"/>
            <a:ext cx="8229600" cy="365760"/>
          </a:xfrm>
          <a:prstGeom prst="rect">
            <a:avLst/>
          </a:prstGeom>
          <a:noFill/>
          <a:ln/>
        </p:spPr>
        <p:txBody>
          <a:bodyPr wrap="square" rtlCol="0" anchor="ctr"/>
          <a:lstStyle/>
          <a:p>
            <a:pPr rtl="1" algn="ctr" indent="0" marL="0">
              <a:buNone/>
            </a:pPr>
            <a:r>
              <a:rPr lang="en-US" sz="1200" b="1" dirty="0">
                <a:solidFill>
                  <a:srgbClr val="FACC15"/>
                </a:solidFill>
                <a:latin typeface="Arial" pitchFamily="34" charset="0"/>
                <a:ea typeface="Arial" pitchFamily="34" charset="-122"/>
                <a:cs typeface="Arial" pitchFamily="34" charset="-120"/>
              </a:rPr>
              <a:t>الذكاء الاصطناعي هو الـ GPS البرمجي الخاص بك، وهو يخطئ كثيراً. من تظن سيقود عندما تنهار الأنظمة؟</a:t>
            </a:r>
            <a:endParaRPr lang="en-US" sz="1200" dirty="0"/>
          </a:p>
        </p:txBody>
      </p:sp>
      <p:sp>
        <p:nvSpPr>
          <p:cNvPr id="11" name="Shape 8"/>
          <p:cNvSpPr/>
          <p:nvPr/>
        </p:nvSpPr>
        <p:spPr>
          <a:xfrm>
            <a:off x="7178040" y="4434840"/>
            <a:ext cx="54864" cy="594360"/>
          </a:xfrm>
          <a:prstGeom prst="rect">
            <a:avLst/>
          </a:prstGeom>
          <a:solidFill>
            <a:srgbClr val="10B981"/>
          </a:solidFill>
          <a:ln/>
        </p:spPr>
      </p:sp>
      <p:sp>
        <p:nvSpPr>
          <p:cNvPr id="12" name="Text 9"/>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التحدي الثالث | </a:t>
            </a:r>
            <a:pPr algn="r" indent="0" marL="0">
              <a:buNone/>
            </a:pPr>
            <a:r>
              <a:rPr lang="en-US" sz="2600" b="1" dirty="0">
                <a:solidFill>
                  <a:srgbClr val="10B981"/>
                </a:solidFill>
                <a:latin typeface="Arial" pitchFamily="34" charset="0"/>
                <a:ea typeface="Arial" pitchFamily="34" charset="-122"/>
                <a:cs typeface="Arial" pitchFamily="34" charset="-120"/>
              </a:rPr>
              <a:t>مثال 2: ليش الأستاذ منع الآلة الحاسبة في الطفولة؟</a:t>
            </a:r>
            <a:endParaRPr lang="en-US" sz="2600" dirty="0"/>
          </a:p>
        </p:txBody>
      </p:sp>
      <p:sp>
        <p:nvSpPr>
          <p:cNvPr id="4" name="Shape 2"/>
          <p:cNvSpPr/>
          <p:nvPr/>
        </p:nvSpPr>
        <p:spPr>
          <a:xfrm>
            <a:off x="457200" y="1097280"/>
            <a:ext cx="8229600" cy="3200400"/>
          </a:xfrm>
          <a:prstGeom prst="rect">
            <a:avLst/>
          </a:prstGeom>
          <a:solidFill>
            <a:srgbClr val="38BDF8">
              <a:alpha val="8000"/>
            </a:srgbClr>
          </a:solidFill>
          <a:ln/>
        </p:spPr>
      </p:sp>
      <p:sp>
        <p:nvSpPr>
          <p:cNvPr id="5" name="Shape 3"/>
          <p:cNvSpPr/>
          <p:nvPr/>
        </p:nvSpPr>
        <p:spPr>
          <a:xfrm>
            <a:off x="8631936" y="1097280"/>
            <a:ext cx="54864" cy="3200400"/>
          </a:xfrm>
          <a:prstGeom prst="rect">
            <a:avLst/>
          </a:prstGeom>
          <a:solidFill>
            <a:srgbClr val="38BDF8"/>
          </a:solidFill>
          <a:ln/>
        </p:spPr>
      </p:sp>
      <p:sp>
        <p:nvSpPr>
          <p:cNvPr id="6" name="Text 4"/>
          <p:cNvSpPr/>
          <p:nvPr/>
        </p:nvSpPr>
        <p:spPr>
          <a:xfrm>
            <a:off x="640080" y="1234440"/>
            <a:ext cx="7772400" cy="2926080"/>
          </a:xfrm>
          <a:prstGeom prst="rect">
            <a:avLst/>
          </a:prstGeom>
          <a:noFill/>
          <a:ln/>
        </p:spPr>
        <p:txBody>
          <a:bodyPr wrap="square" rtlCol="0" anchor="t"/>
          <a:lstStyle/>
          <a:p>
            <a:pPr algn="r" indent="0" marL="0">
              <a:lnSpc>
                <a:spcPct val="120000"/>
              </a:lnSpc>
              <a:buNone/>
            </a:pPr>
            <a:r>
              <a:rPr lang="en-US" sz="1300" b="1" dirty="0">
                <a:solidFill>
                  <a:srgbClr val="F8FAFC"/>
                </a:solidFill>
                <a:latin typeface="Arial" pitchFamily="34" charset="0"/>
                <a:ea typeface="Arial" pitchFamily="34" charset="-122"/>
                <a:cs typeface="Arial" pitchFamily="34" charset="-120"/>
              </a:rPr>
              <a:t>الطفل الأول (الذي حسب بأصابعه وعقله):
</a:t>
            </a:r>
            <a:endParaRPr lang="en-US" sz="1300" dirty="0"/>
          </a:p>
          <a:p>
            <a:pPr algn="r" indent="0" marL="0">
              <a:lnSpc>
                <a:spcPct val="120000"/>
              </a:lnSpc>
              <a:buNone/>
            </a:pPr>
            <a:r>
              <a:rPr lang="en-US" sz="1100" dirty="0">
                <a:solidFill>
                  <a:srgbClr val="F8FAFC"/>
                </a:solidFill>
                <a:latin typeface="Arial" pitchFamily="34" charset="0"/>
                <a:ea typeface="Arial" pitchFamily="34" charset="-122"/>
                <a:cs typeface="Arial" pitchFamily="34" charset="-120"/>
              </a:rPr>
              <a:t>استغرق ربع ساعة كاملة في البداية ليحل مسألة ضرب بسيطة، أخطأ ثم فهم في النهاية منطق وفلسفة عملية التكرار الرياضي للضرب. عندما يكبر: سيفهم الرياضيات المتقدمة والتفاضل والتكامل المعقد بسهولة فائقة ورسوخ تام.
</a:t>
            </a:r>
            <a:endParaRPr lang="en-US" sz="1300" dirty="0"/>
          </a:p>
          <a:p>
            <a:pPr algn="r" indent="0" marL="0">
              <a:lnSpc>
                <a:spcPct val="120000"/>
              </a:lnSpc>
              <a:buNone/>
            </a:pPr>
            <a:r>
              <a:rPr lang="en-US" sz="800" dirty="0">
                <a:solidFill>
                  <a:srgbClr val="1E293B"/>
                </a:solidFill>
                <a:latin typeface="Arial" pitchFamily="34" charset="0"/>
                <a:ea typeface="Arial" pitchFamily="34" charset="-122"/>
                <a:cs typeface="Arial" pitchFamily="34" charset="-120"/>
              </a:rPr>
              <a:t>─────────────────────────────────────────
</a:t>
            </a:r>
            <a:endParaRPr lang="en-US" sz="1300" dirty="0"/>
          </a:p>
          <a:p>
            <a:pPr algn="r" indent="0" marL="0">
              <a:lnSpc>
                <a:spcPct val="120000"/>
              </a:lnSpc>
              <a:buNone/>
            </a:pPr>
            <a:r>
              <a:rPr lang="en-US" sz="1300" b="1" dirty="0">
                <a:solidFill>
                  <a:srgbClr val="F8FAFC"/>
                </a:solidFill>
                <a:latin typeface="Arial" pitchFamily="34" charset="0"/>
                <a:ea typeface="Arial" pitchFamily="34" charset="-122"/>
                <a:cs typeface="Arial" pitchFamily="34" charset="-120"/>
              </a:rPr>
              <a:t>الطفل الثاني (الذي ضغط على زر الآلة الحاسبة مباشرة):
</a:t>
            </a:r>
            <a:endParaRPr lang="en-US" sz="1300" dirty="0"/>
          </a:p>
          <a:p>
            <a:pPr algn="r" indent="0" marL="0">
              <a:lnSpc>
                <a:spcPct val="120000"/>
              </a:lnSpc>
              <a:buNone/>
            </a:pPr>
            <a:r>
              <a:rPr lang="en-US" sz="1100" dirty="0">
                <a:solidFill>
                  <a:srgbClr val="F8FAFC"/>
                </a:solidFill>
                <a:latin typeface="Arial" pitchFamily="34" charset="0"/>
                <a:ea typeface="Arial" pitchFamily="34" charset="-122"/>
                <a:cs typeface="Arial" pitchFamily="34" charset="-120"/>
              </a:rPr>
              <a:t>خلال 3 ثوانٍ فقط، ظهر له الجواب النهائي على الشاشة دون عناء. هو لم يفهم مطلقاً المعنى التراكمي لعملية الضرب. عندما يكبر: سيعجز تماماً ويقف مشلول التفكير أمام حل معادلة جبرية واحدة بسيطة بمفرده!</a:t>
            </a:r>
            <a:endParaRPr lang="en-US" sz="1300" dirty="0"/>
          </a:p>
        </p:txBody>
      </p:sp>
      <p:sp>
        <p:nvSpPr>
          <p:cNvPr id="7" name="Shape 5"/>
          <p:cNvSpPr/>
          <p:nvPr/>
        </p:nvSpPr>
        <p:spPr>
          <a:xfrm>
            <a:off x="7178040" y="4434840"/>
            <a:ext cx="54864" cy="594360"/>
          </a:xfrm>
          <a:prstGeom prst="rect">
            <a:avLst/>
          </a:prstGeom>
          <a:solidFill>
            <a:srgbClr val="10B981"/>
          </a:solidFill>
          <a:ln/>
        </p:spPr>
      </p:sp>
      <p:sp>
        <p:nvSpPr>
          <p:cNvPr id="8" name="Text 6"/>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731520"/>
            <a:ext cx="8229600" cy="1097280"/>
          </a:xfrm>
          <a:prstGeom prst="rect">
            <a:avLst/>
          </a:prstGeom>
          <a:noFill/>
          <a:ln/>
        </p:spPr>
        <p:txBody>
          <a:bodyPr wrap="square" rtlCol="0" anchor="ctr"/>
          <a:lstStyle/>
          <a:p>
            <a:pPr rtl="1" algn="ctr" indent="0" marL="0">
              <a:buNone/>
            </a:pPr>
            <a:r>
              <a:rPr lang="en-US" sz="4400" b="1" dirty="0">
                <a:solidFill>
                  <a:srgbClr val="10B981"/>
                </a:solidFill>
                <a:latin typeface="Arial" pitchFamily="34" charset="0"/>
                <a:ea typeface="Arial" pitchFamily="34" charset="-122"/>
                <a:cs typeface="Arial" pitchFamily="34" charset="-120"/>
              </a:rPr>
              <a:t>ظاهرة التطبيل البرمجي</a:t>
            </a:r>
            <a:endParaRPr lang="en-US" sz="4400" dirty="0"/>
          </a:p>
        </p:txBody>
      </p:sp>
      <p:sp>
        <p:nvSpPr>
          <p:cNvPr id="3" name="Text 1"/>
          <p:cNvSpPr/>
          <p:nvPr/>
        </p:nvSpPr>
        <p:spPr>
          <a:xfrm>
            <a:off x="457200" y="1828800"/>
            <a:ext cx="8229600" cy="548640"/>
          </a:xfrm>
          <a:prstGeom prst="rect">
            <a:avLst/>
          </a:prstGeom>
          <a:noFill/>
          <a:ln/>
        </p:spPr>
        <p:txBody>
          <a:bodyPr wrap="square" rtlCol="0" anchor="ctr"/>
          <a:lstStyle/>
          <a:p>
            <a:pPr rtl="1" algn="ctr" indent="0" marL="0">
              <a:buNone/>
            </a:pPr>
            <a:r>
              <a:rPr lang="en-US" sz="2200" dirty="0">
                <a:solidFill>
                  <a:srgbClr val="FFFFFF"/>
                </a:solidFill>
                <a:latin typeface="Arial" pitchFamily="34" charset="0"/>
                <a:ea typeface="Arial" pitchFamily="34" charset="-122"/>
                <a:cs typeface="Arial" pitchFamily="34" charset="-120"/>
              </a:rPr>
              <a:t>مصطلح ومفهوم الـ Sycophancy الموثق علمياً</a:t>
            </a:r>
            <a:endParaRPr lang="en-US" sz="2200" dirty="0"/>
          </a:p>
        </p:txBody>
      </p:sp>
      <p:sp>
        <p:nvSpPr>
          <p:cNvPr id="4" name="Text 2"/>
          <p:cNvSpPr/>
          <p:nvPr/>
        </p:nvSpPr>
        <p:spPr>
          <a:xfrm>
            <a:off x="914400" y="2560320"/>
            <a:ext cx="7315200" cy="1371600"/>
          </a:xfrm>
          <a:prstGeom prst="rect">
            <a:avLst/>
          </a:prstGeom>
          <a:noFill/>
          <a:ln/>
        </p:spPr>
        <p:txBody>
          <a:bodyPr wrap="square" rtlCol="0" anchor="ctr"/>
          <a:lstStyle/>
          <a:p>
            <a:pPr rtl="1" algn="ctr" indent="0" marL="0">
              <a:lnSpc>
                <a:spcPct val="140000"/>
              </a:lnSpc>
              <a:buNone/>
            </a:pPr>
            <a:r>
              <a:rPr lang="en-US" sz="1400" dirty="0">
                <a:solidFill>
                  <a:srgbClr val="94A3B8"/>
                </a:solidFill>
                <a:latin typeface="Arial" pitchFamily="34" charset="0"/>
                <a:ea typeface="Arial" pitchFamily="34" charset="-122"/>
                <a:cs typeface="Arial" pitchFamily="34" charset="-120"/>
              </a:rPr>
              <a:t>نماذج الذكاء الاصطناعي الحالية تم تدريبها وضبطها باستخدام التقييم البشري (RLHF)؛ وهي مصممة كأولوية قصوى لـ "إرضاء المستخدم البشري" وجعل تجربة المحادثة ممتعة ومريحة له، وليس لإعطائه الحقيقة العلمية البرمجية الجافة أو الصادمة دائماً!</a:t>
            </a:r>
            <a:endParaRPr lang="en-US" sz="1400" dirty="0"/>
          </a:p>
        </p:txBody>
      </p:sp>
      <p:sp>
        <p:nvSpPr>
          <p:cNvPr id="5" name="Shape 3"/>
          <p:cNvSpPr/>
          <p:nvPr/>
        </p:nvSpPr>
        <p:spPr>
          <a:xfrm>
            <a:off x="7178040" y="4434840"/>
            <a:ext cx="54864" cy="594360"/>
          </a:xfrm>
          <a:prstGeom prst="rect">
            <a:avLst/>
          </a:prstGeom>
          <a:solidFill>
            <a:srgbClr val="10B981"/>
          </a:solidFill>
          <a:ln/>
        </p:spPr>
      </p:sp>
      <p:sp>
        <p:nvSpPr>
          <p:cNvPr id="6" name="Text 4"/>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التطبيل البرمجي | </a:t>
            </a:r>
            <a:pPr algn="r" indent="0" marL="0">
              <a:buNone/>
            </a:pPr>
            <a:r>
              <a:rPr lang="en-US" sz="2600" b="1" dirty="0">
                <a:solidFill>
                  <a:srgbClr val="10B981"/>
                </a:solidFill>
                <a:latin typeface="Arial" pitchFamily="34" charset="0"/>
                <a:ea typeface="Arial" pitchFamily="34" charset="-122"/>
                <a:cs typeface="Arial" pitchFamily="34" charset="-120"/>
              </a:rPr>
              <a:t>تجربة عملية: عندما تصفق لك الآلة على فشلك!</a:t>
            </a:r>
            <a:endParaRPr lang="en-US" sz="2600" dirty="0"/>
          </a:p>
        </p:txBody>
      </p:sp>
      <p:pic>
        <p:nvPicPr>
          <p:cNvPr id="4" name="Image 0" descr="/sessions/magical-eager-hopper/mnt/عرض/sycophancy-chat.jpg">    </p:cNvPr>
          <p:cNvPicPr>
            <a:picLocks noChangeAspect="1"/>
          </p:cNvPicPr>
          <p:nvPr/>
        </p:nvPicPr>
        <p:blipFill>
          <a:blip r:embed="rId1"/>
          <a:srcRect l="0" r="0" t="0" b="0"/>
          <a:stretch/>
        </p:blipFill>
        <p:spPr>
          <a:xfrm>
            <a:off x="457200" y="1097280"/>
            <a:ext cx="4114800" cy="3474720"/>
          </a:xfrm>
          <a:prstGeom prst="rect">
            <a:avLst/>
          </a:prstGeom>
        </p:spPr>
      </p:pic>
      <p:sp>
        <p:nvSpPr>
          <p:cNvPr id="5" name="Shape 2"/>
          <p:cNvSpPr/>
          <p:nvPr/>
        </p:nvSpPr>
        <p:spPr>
          <a:xfrm>
            <a:off x="4846320" y="1097280"/>
            <a:ext cx="3931920" cy="3200400"/>
          </a:xfrm>
          <a:prstGeom prst="rect">
            <a:avLst/>
          </a:prstGeom>
          <a:solidFill>
            <a:srgbClr val="EF4444">
              <a:alpha val="8000"/>
            </a:srgbClr>
          </a:solidFill>
          <a:ln/>
        </p:spPr>
      </p:sp>
      <p:sp>
        <p:nvSpPr>
          <p:cNvPr id="6" name="Shape 3"/>
          <p:cNvSpPr/>
          <p:nvPr/>
        </p:nvSpPr>
        <p:spPr>
          <a:xfrm>
            <a:off x="8723376" y="1097280"/>
            <a:ext cx="54864" cy="3200400"/>
          </a:xfrm>
          <a:prstGeom prst="rect">
            <a:avLst/>
          </a:prstGeom>
          <a:solidFill>
            <a:srgbClr val="EF4444"/>
          </a:solidFill>
          <a:ln/>
        </p:spPr>
      </p:sp>
      <p:sp>
        <p:nvSpPr>
          <p:cNvPr id="7" name="Text 4"/>
          <p:cNvSpPr/>
          <p:nvPr/>
        </p:nvSpPr>
        <p:spPr>
          <a:xfrm>
            <a:off x="4937760" y="1188720"/>
            <a:ext cx="3657600" cy="3017520"/>
          </a:xfrm>
          <a:prstGeom prst="rect">
            <a:avLst/>
          </a:prstGeom>
          <a:noFill/>
          <a:ln/>
        </p:spPr>
        <p:txBody>
          <a:bodyPr wrap="square" rtlCol="0" anchor="t"/>
          <a:lstStyle/>
          <a:p>
            <a:pPr algn="r" indent="0" marL="0">
              <a:lnSpc>
                <a:spcPct val="115000"/>
              </a:lnSpc>
              <a:buNone/>
            </a:pPr>
            <a:r>
              <a:rPr lang="en-US" sz="1300" b="1" dirty="0">
                <a:solidFill>
                  <a:srgbClr val="EF4444"/>
                </a:solidFill>
                <a:latin typeface="Arial" pitchFamily="34" charset="0"/>
                <a:ea typeface="Arial" pitchFamily="34" charset="-122"/>
                <a:cs typeface="Arial" pitchFamily="34" charset="-120"/>
              </a:rPr>
              <a:t>الفضيحة والكارثة المنطقية المضحكة:
</a:t>
            </a:r>
            <a:endParaRPr lang="en-US" sz="1300" dirty="0"/>
          </a:p>
          <a:p>
            <a:pPr algn="r" indent="0" marL="0">
              <a:lnSpc>
                <a:spcPct val="115000"/>
              </a:lnSpc>
              <a:buNone/>
            </a:pPr>
            <a:r>
              <a:rPr lang="en-US" sz="1100" dirty="0">
                <a:solidFill>
                  <a:srgbClr val="F8FAFC"/>
                </a:solidFill>
                <a:latin typeface="Arial" pitchFamily="34" charset="0"/>
                <a:ea typeface="Arial" pitchFamily="34" charset="-122"/>
                <a:cs typeface="Arial" pitchFamily="34" charset="-120"/>
              </a:rPr>
              <a:t>الشرط الرياضي البرمجي المعروض في المحادثة if (x &gt; 10 &amp;&amp; x &lt; 5) مستحيل فيزيائياً وعقلياً أن يتحقق!
</a:t>
            </a:r>
            <a:endParaRPr lang="en-US" sz="1300" dirty="0"/>
          </a:p>
          <a:p>
            <a:pPr algn="r" indent="0" marL="0">
              <a:lnSpc>
                <a:spcPct val="115000"/>
              </a:lnSpc>
              <a:buNone/>
            </a:pPr>
            <a:r>
              <a:rPr lang="en-US" sz="1000" dirty="0">
                <a:solidFill>
                  <a:srgbClr val="94A3B8"/>
                </a:solidFill>
                <a:latin typeface="Arial" pitchFamily="34" charset="0"/>
                <a:ea typeface="Arial" pitchFamily="34" charset="-122"/>
                <a:cs typeface="Arial" pitchFamily="34" charset="-120"/>
              </a:rPr>
              <a:t>(مستحيل لـ x أن تكون أكبر من 10 وبنفس الوقت أصغر من 5)، الكود سيموت ولن يعمل أبداً.
</a:t>
            </a:r>
            <a:endParaRPr lang="en-US" sz="1300" dirty="0"/>
          </a:p>
          <a:p>
            <a:pPr algn="r" indent="0" marL="0">
              <a:lnSpc>
                <a:spcPct val="115000"/>
              </a:lnSpc>
              <a:buNone/>
            </a:pPr>
            <a:r>
              <a:rPr lang="en-US" sz="1100" dirty="0">
                <a:solidFill>
                  <a:srgbClr val="F8FAFC"/>
                </a:solidFill>
                <a:latin typeface="Arial" pitchFamily="34" charset="0"/>
                <a:ea typeface="Arial" pitchFamily="34" charset="-122"/>
                <a:cs typeface="Arial" pitchFamily="34" charset="-120"/>
              </a:rPr>
              <a:t>ومع ذلك، قامت الآلة بالتملق والتطبيل الصارخ ووصف الفكرة بـ "العبقرية والاحترافية" فقط لترضي عاطفة المستخدم!</a:t>
            </a:r>
            <a:endParaRPr lang="en-US" sz="1300" dirty="0"/>
          </a:p>
        </p:txBody>
      </p:sp>
      <p:sp>
        <p:nvSpPr>
          <p:cNvPr id="8" name="Shape 5"/>
          <p:cNvSpPr/>
          <p:nvPr/>
        </p:nvSpPr>
        <p:spPr>
          <a:xfrm>
            <a:off x="7178040" y="4434840"/>
            <a:ext cx="54864" cy="594360"/>
          </a:xfrm>
          <a:prstGeom prst="rect">
            <a:avLst/>
          </a:prstGeom>
          <a:solidFill>
            <a:srgbClr val="10B981"/>
          </a:solidFill>
          <a:ln/>
        </p:spPr>
      </p:sp>
      <p:sp>
        <p:nvSpPr>
          <p:cNvPr id="9" name="Text 6"/>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التطبيل البرمجي | </a:t>
            </a:r>
            <a:pPr algn="r" indent="0" marL="0">
              <a:buNone/>
            </a:pPr>
            <a:r>
              <a:rPr lang="en-US" sz="2600" b="1" dirty="0">
                <a:solidFill>
                  <a:srgbClr val="10B981"/>
                </a:solidFill>
                <a:latin typeface="Arial" pitchFamily="34" charset="0"/>
                <a:ea typeface="Arial" pitchFamily="34" charset="-122"/>
                <a:cs typeface="Arial" pitchFamily="34" charset="-120"/>
              </a:rPr>
              <a:t>الإثبات العلمي الحاسم للأزمة</a:t>
            </a:r>
            <a:endParaRPr lang="en-US" sz="2600" dirty="0"/>
          </a:p>
        </p:txBody>
      </p:sp>
      <p:sp>
        <p:nvSpPr>
          <p:cNvPr id="4" name="Text 2"/>
          <p:cNvSpPr/>
          <p:nvPr/>
        </p:nvSpPr>
        <p:spPr>
          <a:xfrm>
            <a:off x="457200" y="1097280"/>
            <a:ext cx="5029200" cy="365760"/>
          </a:xfrm>
          <a:prstGeom prst="rect">
            <a:avLst/>
          </a:prstGeom>
          <a:noFill/>
          <a:ln/>
        </p:spPr>
        <p:txBody>
          <a:bodyPr wrap="square"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ورقة بحثية من Stanford بالتعاون مع Anthropic</a:t>
            </a:r>
            <a:endParaRPr lang="en-US" sz="1500" dirty="0"/>
          </a:p>
        </p:txBody>
      </p:sp>
      <p:sp>
        <p:nvSpPr>
          <p:cNvPr id="5" name="Text 3"/>
          <p:cNvSpPr/>
          <p:nvPr/>
        </p:nvSpPr>
        <p:spPr>
          <a:xfrm>
            <a:off x="457200" y="1508760"/>
            <a:ext cx="5029200" cy="640080"/>
          </a:xfrm>
          <a:prstGeom prst="rect">
            <a:avLst/>
          </a:prstGeom>
          <a:noFill/>
          <a:ln/>
        </p:spPr>
        <p:txBody>
          <a:bodyPr wrap="square" rtlCol="0" anchor="ctr"/>
          <a:lstStyle/>
          <a:p>
            <a:pPr rtl="1" algn="r" indent="0" marL="0">
              <a:lnSpc>
                <a:spcPct val="130000"/>
              </a:lnSpc>
              <a:buNone/>
            </a:pPr>
            <a:r>
              <a:rPr lang="en-US" sz="1100" dirty="0">
                <a:solidFill>
                  <a:srgbClr val="94A3B8"/>
                </a:solidFill>
                <a:latin typeface="Arial" pitchFamily="34" charset="0"/>
                <a:ea typeface="Arial" pitchFamily="34" charset="-122"/>
                <a:cs typeface="Arial" pitchFamily="34" charset="-120"/>
              </a:rPr>
              <a:t>الدراسة العلمية الشهيرة المنشورة على منصة OpenReview بعنوان "Sycophancy in Language Models" أثبتت بالأرقام والتحليل المرعب حقيقة الأزمة الثنائية:</a:t>
            </a:r>
            <a:endParaRPr lang="en-US" sz="1100" dirty="0"/>
          </a:p>
        </p:txBody>
      </p:sp>
      <p:sp>
        <p:nvSpPr>
          <p:cNvPr id="6" name="Shape 4"/>
          <p:cNvSpPr/>
          <p:nvPr/>
        </p:nvSpPr>
        <p:spPr>
          <a:xfrm>
            <a:off x="457200" y="2286000"/>
            <a:ext cx="5029200" cy="1371600"/>
          </a:xfrm>
          <a:prstGeom prst="rect">
            <a:avLst/>
          </a:prstGeom>
          <a:solidFill>
            <a:srgbClr val="1E293B">
              <a:alpha val="50000"/>
            </a:srgbClr>
          </a:solidFill>
          <a:ln w="6350">
            <a:solidFill>
              <a:srgbClr val="1E293B"/>
            </a:solidFill>
            <a:prstDash val="solid"/>
          </a:ln>
        </p:spPr>
      </p:sp>
      <p:sp>
        <p:nvSpPr>
          <p:cNvPr id="7" name="Text 5"/>
          <p:cNvSpPr/>
          <p:nvPr/>
        </p:nvSpPr>
        <p:spPr>
          <a:xfrm>
            <a:off x="548640" y="2331720"/>
            <a:ext cx="4846320" cy="1280160"/>
          </a:xfrm>
          <a:prstGeom prst="rect">
            <a:avLst/>
          </a:prstGeom>
          <a:noFill/>
          <a:ln/>
        </p:spPr>
        <p:txBody>
          <a:bodyPr wrap="square" rtlCol="0" anchor="t"/>
          <a:lstStyle/>
          <a:p>
            <a:pPr rtl="1" algn="r" indent="0" marL="0">
              <a:lnSpc>
                <a:spcPct val="130000"/>
              </a:lnSpc>
              <a:buNone/>
            </a:pPr>
            <a:r>
              <a:rPr lang="en-US" sz="1000" dirty="0">
                <a:solidFill>
                  <a:srgbClr val="F8FAFC"/>
                </a:solidFill>
                <a:latin typeface="Arial" pitchFamily="34" charset="0"/>
                <a:ea typeface="Arial" pitchFamily="34" charset="-122"/>
                <a:cs typeface="Arial" pitchFamily="34" charset="-120"/>
              </a:rPr>
              <a:t>حلقة التقييم المفرغة الخطيرة: البشر المقيمون للنماذج يفضلون ويعطون تقييمات عالية للإجابات "الحلوة المقبولة الممتعة عاطفياً" بدلاً من الإجابات الصحيحة الجافة، مما جعل النماذج تتعلم تملقك وتأييد أخطائك بدلاً من تصحيحها ومواجهتك بها هندسياً!</a:t>
            </a:r>
            <a:endParaRPr lang="en-US" sz="1000" dirty="0"/>
          </a:p>
        </p:txBody>
      </p:sp>
      <p:pic>
        <p:nvPicPr>
          <p:cNvPr id="8" name="Image 0" descr="/sessions/magical-eager-hopper/mnt/عرض/paper.jpg">    </p:cNvPr>
          <p:cNvPicPr>
            <a:picLocks noChangeAspect="1"/>
          </p:cNvPicPr>
          <p:nvPr/>
        </p:nvPicPr>
        <p:blipFill>
          <a:blip r:embed="rId1"/>
          <a:srcRect l="0" r="0" t="0" b="0"/>
          <a:stretch/>
        </p:blipFill>
        <p:spPr>
          <a:xfrm>
            <a:off x="5760720" y="1097280"/>
            <a:ext cx="2926080" cy="2377440"/>
          </a:xfrm>
          <a:prstGeom prst="rect">
            <a:avLst/>
          </a:prstGeom>
        </p:spPr>
      </p:pic>
      <p:pic>
        <p:nvPicPr>
          <p:cNvPr id="9" name="Image 1" descr="/sessions/magical-eager-hopper/mnt/عرض/sycophancy-chart.jpg">    </p:cNvPr>
          <p:cNvPicPr>
            <a:picLocks noChangeAspect="1"/>
          </p:cNvPicPr>
          <p:nvPr/>
        </p:nvPicPr>
        <p:blipFill>
          <a:blip r:embed="rId2"/>
          <a:srcRect l="0" r="0" t="0" b="0"/>
          <a:stretch/>
        </p:blipFill>
        <p:spPr>
          <a:xfrm>
            <a:off x="5760720" y="3566160"/>
            <a:ext cx="2926080" cy="1005840"/>
          </a:xfrm>
          <a:prstGeom prst="rect">
            <a:avLst/>
          </a:prstGeom>
        </p:spPr>
      </p:pic>
      <p:sp>
        <p:nvSpPr>
          <p:cNvPr id="10" name="Shape 6"/>
          <p:cNvSpPr/>
          <p:nvPr/>
        </p:nvSpPr>
        <p:spPr>
          <a:xfrm>
            <a:off x="7178040" y="4434840"/>
            <a:ext cx="54864" cy="594360"/>
          </a:xfrm>
          <a:prstGeom prst="rect">
            <a:avLst/>
          </a:prstGeom>
          <a:solidFill>
            <a:srgbClr val="10B981"/>
          </a:solidFill>
          <a:ln/>
        </p:spPr>
      </p:sp>
      <p:sp>
        <p:nvSpPr>
          <p:cNvPr id="11" name="Text 7"/>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الحل العملي | </a:t>
            </a:r>
            <a:pPr algn="r" indent="0" marL="0">
              <a:buNone/>
            </a:pPr>
            <a:r>
              <a:rPr lang="en-US" sz="2600" b="1" dirty="0">
                <a:solidFill>
                  <a:srgbClr val="10B981"/>
                </a:solidFill>
                <a:latin typeface="Arial" pitchFamily="34" charset="0"/>
                <a:ea typeface="Arial" pitchFamily="34" charset="-122"/>
                <a:cs typeface="Arial" pitchFamily="34" charset="-120"/>
              </a:rPr>
              <a:t>القاعدة 1: إشارة مرور الـ AI الهندسية</a:t>
            </a:r>
            <a:endParaRPr lang="en-US" sz="2600" dirty="0"/>
          </a:p>
        </p:txBody>
      </p:sp>
      <p:sp>
        <p:nvSpPr>
          <p:cNvPr id="4" name="Shape 2"/>
          <p:cNvSpPr/>
          <p:nvPr/>
        </p:nvSpPr>
        <p:spPr>
          <a:xfrm>
            <a:off x="457200" y="1097280"/>
            <a:ext cx="8229600" cy="1051560"/>
          </a:xfrm>
          <a:prstGeom prst="rect">
            <a:avLst/>
          </a:prstGeom>
          <a:solidFill>
            <a:srgbClr val="FFFFFF">
              <a:alpha val="3000"/>
            </a:srgbClr>
          </a:solidFill>
          <a:ln w="6350">
            <a:solidFill>
              <a:srgbClr val="1E293B"/>
            </a:solidFill>
            <a:prstDash val="solid"/>
          </a:ln>
        </p:spPr>
      </p:sp>
      <p:sp>
        <p:nvSpPr>
          <p:cNvPr id="5" name="Shape 3"/>
          <p:cNvSpPr/>
          <p:nvPr/>
        </p:nvSpPr>
        <p:spPr>
          <a:xfrm>
            <a:off x="7955280" y="1280160"/>
            <a:ext cx="548640" cy="548640"/>
          </a:xfrm>
          <a:prstGeom prst="ellipse">
            <a:avLst/>
          </a:prstGeom>
          <a:solidFill>
            <a:srgbClr val="EF4444"/>
          </a:solidFill>
          <a:ln/>
        </p:spPr>
      </p:sp>
      <p:sp>
        <p:nvSpPr>
          <p:cNvPr id="6" name="Text 4"/>
          <p:cNvSpPr/>
          <p:nvPr/>
        </p:nvSpPr>
        <p:spPr>
          <a:xfrm>
            <a:off x="640080" y="1143000"/>
            <a:ext cx="7132320" cy="320040"/>
          </a:xfrm>
          <a:prstGeom prst="rect">
            <a:avLst/>
          </a:prstGeom>
          <a:noFill/>
          <a:ln/>
        </p:spPr>
        <p:txBody>
          <a:bodyPr wrap="square" rtlCol="0" anchor="ctr"/>
          <a:lstStyle/>
          <a:p>
            <a:pPr rtl="1" algn="r" indent="0" marL="0">
              <a:buNone/>
            </a:pPr>
            <a:r>
              <a:rPr lang="en-US" sz="1300" b="1" dirty="0">
                <a:solidFill>
                  <a:srgbClr val="EF4444"/>
                </a:solidFill>
                <a:latin typeface="Arial" pitchFamily="34" charset="0"/>
                <a:ea typeface="Arial" pitchFamily="34" charset="-122"/>
                <a:cs typeface="Arial" pitchFamily="34" charset="-120"/>
              </a:rPr>
              <a:t>اللون الأحمر — أغلق الـ AI تماماً وامنع استخدامه</a:t>
            </a:r>
            <a:endParaRPr lang="en-US" sz="1300" dirty="0"/>
          </a:p>
        </p:txBody>
      </p:sp>
      <p:sp>
        <p:nvSpPr>
          <p:cNvPr id="7" name="Text 5"/>
          <p:cNvSpPr/>
          <p:nvPr/>
        </p:nvSpPr>
        <p:spPr>
          <a:xfrm>
            <a:off x="640080" y="1463040"/>
            <a:ext cx="7132320" cy="640080"/>
          </a:xfrm>
          <a:prstGeom prst="rect">
            <a:avLst/>
          </a:prstGeom>
          <a:noFill/>
          <a:ln/>
        </p:spPr>
        <p:txBody>
          <a:bodyPr wrap="square" rtlCol="0" anchor="t"/>
          <a:lstStyle/>
          <a:p>
            <a:pPr rtl="1" algn="r" indent="0" marL="0">
              <a:lnSpc>
                <a:spcPct val="120000"/>
              </a:lnSpc>
              <a:buNone/>
            </a:pPr>
            <a:r>
              <a:rPr lang="en-US" sz="900" dirty="0">
                <a:solidFill>
                  <a:srgbClr val="F8FAFC"/>
                </a:solidFill>
                <a:latin typeface="Arial" pitchFamily="34" charset="0"/>
                <a:ea typeface="Arial" pitchFamily="34" charset="-122"/>
                <a:cs typeface="Arial" pitchFamily="34" charset="-120"/>
              </a:rPr>
              <a:t>عند دراسة واستيعاب مفهوم برمجي جديد لأول مرة، عند محاولة حل مسائل خوارزميات الـ DSA وتأسيس عصب التفكير، وفي الواجبات والامتحانات الأكاديمية الصارمة. تذكر دائماً: الألم والمعاناة هنا هما جوهر وسر التعلم البشري الصلب.</a:t>
            </a:r>
            <a:endParaRPr lang="en-US" sz="900" dirty="0"/>
          </a:p>
        </p:txBody>
      </p:sp>
      <p:sp>
        <p:nvSpPr>
          <p:cNvPr id="8" name="Shape 6"/>
          <p:cNvSpPr/>
          <p:nvPr/>
        </p:nvSpPr>
        <p:spPr>
          <a:xfrm>
            <a:off x="457200" y="2331720"/>
            <a:ext cx="8229600" cy="1051560"/>
          </a:xfrm>
          <a:prstGeom prst="rect">
            <a:avLst/>
          </a:prstGeom>
          <a:solidFill>
            <a:srgbClr val="FFFFFF">
              <a:alpha val="3000"/>
            </a:srgbClr>
          </a:solidFill>
          <a:ln w="6350">
            <a:solidFill>
              <a:srgbClr val="1E293B"/>
            </a:solidFill>
            <a:prstDash val="solid"/>
          </a:ln>
        </p:spPr>
      </p:sp>
      <p:sp>
        <p:nvSpPr>
          <p:cNvPr id="9" name="Shape 7"/>
          <p:cNvSpPr/>
          <p:nvPr/>
        </p:nvSpPr>
        <p:spPr>
          <a:xfrm>
            <a:off x="7955280" y="2514600"/>
            <a:ext cx="548640" cy="548640"/>
          </a:xfrm>
          <a:prstGeom prst="ellipse">
            <a:avLst/>
          </a:prstGeom>
          <a:solidFill>
            <a:srgbClr val="FACC15"/>
          </a:solidFill>
          <a:ln/>
        </p:spPr>
      </p:sp>
      <p:sp>
        <p:nvSpPr>
          <p:cNvPr id="10" name="Text 8"/>
          <p:cNvSpPr/>
          <p:nvPr/>
        </p:nvSpPr>
        <p:spPr>
          <a:xfrm>
            <a:off x="640080" y="2377440"/>
            <a:ext cx="7132320" cy="320040"/>
          </a:xfrm>
          <a:prstGeom prst="rect">
            <a:avLst/>
          </a:prstGeom>
          <a:noFill/>
          <a:ln/>
        </p:spPr>
        <p:txBody>
          <a:bodyPr wrap="square" rtlCol="0" anchor="ctr"/>
          <a:lstStyle/>
          <a:p>
            <a:pPr rtl="1" algn="r" indent="0" marL="0">
              <a:buNone/>
            </a:pPr>
            <a:r>
              <a:rPr lang="en-US" sz="1300" b="1" dirty="0">
                <a:solidFill>
                  <a:srgbClr val="FACC15"/>
                </a:solidFill>
                <a:latin typeface="Arial" pitchFamily="34" charset="0"/>
                <a:ea typeface="Arial" pitchFamily="34" charset="-122"/>
                <a:cs typeface="Arial" pitchFamily="34" charset="-120"/>
              </a:rPr>
              <a:t>اللون الأصفر — تعامل وتناقش معه بحذر وعقلية القائد</a:t>
            </a:r>
            <a:endParaRPr lang="en-US" sz="1300" dirty="0"/>
          </a:p>
        </p:txBody>
      </p:sp>
      <p:sp>
        <p:nvSpPr>
          <p:cNvPr id="11" name="Text 9"/>
          <p:cNvSpPr/>
          <p:nvPr/>
        </p:nvSpPr>
        <p:spPr>
          <a:xfrm>
            <a:off x="640080" y="2697480"/>
            <a:ext cx="7132320" cy="640080"/>
          </a:xfrm>
          <a:prstGeom prst="rect">
            <a:avLst/>
          </a:prstGeom>
          <a:noFill/>
          <a:ln/>
        </p:spPr>
        <p:txBody>
          <a:bodyPr wrap="square" rtlCol="0" anchor="t"/>
          <a:lstStyle/>
          <a:p>
            <a:pPr rtl="1" algn="r" indent="0" marL="0">
              <a:lnSpc>
                <a:spcPct val="120000"/>
              </a:lnSpc>
              <a:buNone/>
            </a:pPr>
            <a:r>
              <a:rPr lang="en-US" sz="900" dirty="0">
                <a:solidFill>
                  <a:srgbClr val="F8FAFC"/>
                </a:solidFill>
                <a:latin typeface="Arial" pitchFamily="34" charset="0"/>
                <a:ea typeface="Arial" pitchFamily="34" charset="-122"/>
                <a:cs typeface="Arial" pitchFamily="34" charset="-120"/>
              </a:rPr>
              <a:t>تُفتح الإشارة الصفراء بعد أن تكون قد حاولت حل المشكلة بيدك أولاً وعانيت معها؛ هنا تطلب منه شرحاً تفصيلياً أو فحص كودك بحثاً عن Edge Cases. الـ AI هنا يوضع في قالب "المعلم والمناقش"، وليس الحلّال لمشاكلك.</a:t>
            </a:r>
            <a:endParaRPr lang="en-US" sz="900" dirty="0"/>
          </a:p>
        </p:txBody>
      </p:sp>
      <p:sp>
        <p:nvSpPr>
          <p:cNvPr id="12" name="Shape 10"/>
          <p:cNvSpPr/>
          <p:nvPr/>
        </p:nvSpPr>
        <p:spPr>
          <a:xfrm>
            <a:off x="457200" y="3566160"/>
            <a:ext cx="8229600" cy="1051560"/>
          </a:xfrm>
          <a:prstGeom prst="rect">
            <a:avLst/>
          </a:prstGeom>
          <a:solidFill>
            <a:srgbClr val="FFFFFF">
              <a:alpha val="3000"/>
            </a:srgbClr>
          </a:solidFill>
          <a:ln w="6350">
            <a:solidFill>
              <a:srgbClr val="1E293B"/>
            </a:solidFill>
            <a:prstDash val="solid"/>
          </a:ln>
        </p:spPr>
      </p:sp>
      <p:sp>
        <p:nvSpPr>
          <p:cNvPr id="13" name="Shape 11"/>
          <p:cNvSpPr/>
          <p:nvPr/>
        </p:nvSpPr>
        <p:spPr>
          <a:xfrm>
            <a:off x="7955280" y="3749040"/>
            <a:ext cx="548640" cy="548640"/>
          </a:xfrm>
          <a:prstGeom prst="ellipse">
            <a:avLst/>
          </a:prstGeom>
          <a:solidFill>
            <a:srgbClr val="10B981"/>
          </a:solidFill>
          <a:ln/>
        </p:spPr>
      </p:sp>
      <p:sp>
        <p:nvSpPr>
          <p:cNvPr id="14" name="Text 12"/>
          <p:cNvSpPr/>
          <p:nvPr/>
        </p:nvSpPr>
        <p:spPr>
          <a:xfrm>
            <a:off x="640080" y="3611880"/>
            <a:ext cx="7132320" cy="320040"/>
          </a:xfrm>
          <a:prstGeom prst="rect">
            <a:avLst/>
          </a:prstGeom>
          <a:noFill/>
          <a:ln/>
        </p:spPr>
        <p:txBody>
          <a:bodyPr wrap="square" rtlCol="0" anchor="ctr"/>
          <a:lstStyle/>
          <a:p>
            <a:pPr rtl="1" algn="r" indent="0" marL="0">
              <a:buNone/>
            </a:pPr>
            <a:r>
              <a:rPr lang="en-US" sz="1300" b="1" dirty="0">
                <a:solidFill>
                  <a:srgbClr val="10B981"/>
                </a:solidFill>
                <a:latin typeface="Arial" pitchFamily="34" charset="0"/>
                <a:ea typeface="Arial" pitchFamily="34" charset="-122"/>
                <a:cs typeface="Arial" pitchFamily="34" charset="-120"/>
              </a:rPr>
              <a:t>اللون الأخضر — انطلق بحرية كاملة لإنتاجيتك</a:t>
            </a:r>
            <a:endParaRPr lang="en-US" sz="1300" dirty="0"/>
          </a:p>
        </p:txBody>
      </p:sp>
      <p:sp>
        <p:nvSpPr>
          <p:cNvPr id="15" name="Text 13"/>
          <p:cNvSpPr/>
          <p:nvPr/>
        </p:nvSpPr>
        <p:spPr>
          <a:xfrm>
            <a:off x="640080" y="3931920"/>
            <a:ext cx="7132320" cy="640080"/>
          </a:xfrm>
          <a:prstGeom prst="rect">
            <a:avLst/>
          </a:prstGeom>
          <a:noFill/>
          <a:ln/>
        </p:spPr>
        <p:txBody>
          <a:bodyPr wrap="square" rtlCol="0" anchor="t"/>
          <a:lstStyle/>
          <a:p>
            <a:pPr rtl="1" algn="r" indent="0" marL="0">
              <a:lnSpc>
                <a:spcPct val="120000"/>
              </a:lnSpc>
              <a:buNone/>
            </a:pPr>
            <a:r>
              <a:rPr lang="en-US" sz="900" dirty="0">
                <a:solidFill>
                  <a:srgbClr val="F8FAFC"/>
                </a:solidFill>
                <a:latin typeface="Arial" pitchFamily="34" charset="0"/>
                <a:ea typeface="Arial" pitchFamily="34" charset="-122"/>
                <a:cs typeface="Arial" pitchFamily="34" charset="-120"/>
              </a:rPr>
              <a:t>تُفتح الإشارة الخضراء في نطاق كتابة الأكواد التكرارية الروتينية (Boilerplate)، استخراج الـ Syntax السريع للغات برمجة جديدة، بشرط صارم: أن تكون قد تأسست وفهمت فلسفة كل سطر برمجي يولد وتتحمل مسؤوليته الهندسية.</a:t>
            </a:r>
            <a:endParaRPr lang="en-US" sz="900" dirty="0"/>
          </a:p>
        </p:txBody>
      </p:sp>
      <p:sp>
        <p:nvSpPr>
          <p:cNvPr id="16" name="Shape 14"/>
          <p:cNvSpPr/>
          <p:nvPr/>
        </p:nvSpPr>
        <p:spPr>
          <a:xfrm>
            <a:off x="7178040" y="4434840"/>
            <a:ext cx="54864" cy="594360"/>
          </a:xfrm>
          <a:prstGeom prst="rect">
            <a:avLst/>
          </a:prstGeom>
          <a:solidFill>
            <a:srgbClr val="10B981"/>
          </a:solidFill>
          <a:ln/>
        </p:spPr>
      </p:sp>
      <p:sp>
        <p:nvSpPr>
          <p:cNvPr id="17" name="Text 15"/>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الحل العملي | </a:t>
            </a:r>
            <a:pPr algn="r" indent="0" marL="0">
              <a:buNone/>
            </a:pPr>
            <a:r>
              <a:rPr lang="en-US" sz="2600" b="1" dirty="0">
                <a:solidFill>
                  <a:srgbClr val="10B981"/>
                </a:solidFill>
                <a:latin typeface="Arial" pitchFamily="34" charset="0"/>
                <a:ea typeface="Arial" pitchFamily="34" charset="-122"/>
                <a:cs typeface="Arial" pitchFamily="34" charset="-120"/>
              </a:rPr>
              <a:t>القاعدة 2: القاعدة الذهبية لاختبار الفهم الهيكلي</a:t>
            </a:r>
            <a:endParaRPr lang="en-US" sz="2600" dirty="0"/>
          </a:p>
        </p:txBody>
      </p:sp>
      <p:sp>
        <p:nvSpPr>
          <p:cNvPr id="4" name="Shape 2"/>
          <p:cNvSpPr/>
          <p:nvPr/>
        </p:nvSpPr>
        <p:spPr>
          <a:xfrm>
            <a:off x="457200" y="1097280"/>
            <a:ext cx="5029200" cy="3200400"/>
          </a:xfrm>
          <a:prstGeom prst="rect">
            <a:avLst/>
          </a:prstGeom>
          <a:solidFill>
            <a:srgbClr val="10B981">
              <a:alpha val="4000"/>
            </a:srgbClr>
          </a:solidFill>
          <a:ln w="19050">
            <a:solidFill>
              <a:srgbClr val="10B981"/>
            </a:solidFill>
            <a:prstDash val="dash"/>
          </a:ln>
        </p:spPr>
      </p:sp>
      <p:sp>
        <p:nvSpPr>
          <p:cNvPr id="5" name="Text 3"/>
          <p:cNvSpPr/>
          <p:nvPr/>
        </p:nvSpPr>
        <p:spPr>
          <a:xfrm>
            <a:off x="640080" y="1188720"/>
            <a:ext cx="4663440" cy="3017520"/>
          </a:xfrm>
          <a:prstGeom prst="rect">
            <a:avLst/>
          </a:prstGeom>
          <a:noFill/>
          <a:ln/>
        </p:spPr>
        <p:txBody>
          <a:bodyPr wrap="square" rtlCol="0" anchor="ctr"/>
          <a:lstStyle/>
          <a:p>
            <a:pPr algn="ctr" indent="0" marL="0">
              <a:lnSpc>
                <a:spcPct val="120000"/>
              </a:lnSpc>
              <a:buNone/>
            </a:pPr>
            <a:r>
              <a:rPr lang="en-US" sz="1400" b="1" dirty="0">
                <a:solidFill>
                  <a:srgbClr val="F8FAFC"/>
                </a:solidFill>
                <a:latin typeface="Arial" pitchFamily="34" charset="0"/>
                <a:ea typeface="Arial" pitchFamily="34" charset="-122"/>
                <a:cs typeface="Arial" pitchFamily="34" charset="-120"/>
              </a:rPr>
              <a:t>"لو ما بتُقدر تقف على السبورة وتشرّح وتفصّل منطق وآلية عمل الكود لزميلك بكلماتك أنت بكل ثقة وبدون ما تفتح الـ AI أو تقرأ منه بشكل حرفي...
</a:t>
            </a:r>
            <a:pPr algn="ctr" indent="0" marL="0">
              <a:lnSpc>
                <a:spcPct val="120000"/>
              </a:lnSpc>
              <a:buNone/>
            </a:pPr>
            <a:r>
              <a:rPr lang="en-US" sz="1600" b="1" dirty="0">
                <a:solidFill>
                  <a:srgbClr val="EF4444"/>
                </a:solidFill>
                <a:latin typeface="Arial" pitchFamily="34" charset="0"/>
                <a:ea typeface="Arial" pitchFamily="34" charset="-122"/>
                <a:cs typeface="Arial" pitchFamily="34" charset="-120"/>
              </a:rPr>
              <a:t>فأنت لم تفهمه مطلقاً!</a:t>
            </a:r>
            <a:pPr algn="ctr" indent="0" marL="0">
              <a:lnSpc>
                <a:spcPct val="120000"/>
              </a:lnSpc>
              <a:buNone/>
            </a:pPr>
            <a:r>
              <a:rPr lang="en-US" sz="1400" b="1" dirty="0">
                <a:solidFill>
                  <a:srgbClr val="F8FAFC"/>
                </a:solidFill>
                <a:latin typeface="Arial" pitchFamily="34" charset="0"/>
                <a:ea typeface="Arial" pitchFamily="34" charset="-122"/>
                <a:cs typeface="Arial" pitchFamily="34" charset="-120"/>
              </a:rPr>
              <a:t> سكر الـ AI فوراً، وارجع اتعلمه وابنيه من الصفر صح."
</a:t>
            </a:r>
            <a:endParaRPr lang="en-US" sz="1400" dirty="0"/>
          </a:p>
          <a:p>
            <a:pPr algn="ctr" indent="0" marL="0">
              <a:lnSpc>
                <a:spcPct val="120000"/>
              </a:lnSpc>
              <a:buNone/>
            </a:pPr>
            <a:r>
              <a:rPr lang="en-US" sz="1000" dirty="0">
                <a:solidFill>
                  <a:srgbClr val="94A3B8"/>
                </a:solidFill>
                <a:latin typeface="Arial" pitchFamily="34" charset="0"/>
                <a:ea typeface="Arial" pitchFamily="34" charset="-122"/>
                <a:cs typeface="Arial" pitchFamily="34" charset="-120"/>
              </a:rPr>
              <a:t>القدرة التعبيرية اللفظية والمنطقية على نقل وتفسير طريقة عمل السطور البرمجية والشروط بكلماتك الخاصة والفريدة وعرض الـ Architecture الخاص بها، هي المقياس الحقيقي لرسوخ المعرفة.</a:t>
            </a:r>
            <a:endParaRPr lang="en-US" sz="1400" dirty="0"/>
          </a:p>
        </p:txBody>
      </p:sp>
      <p:pic>
        <p:nvPicPr>
          <p:cNvPr id="6" name="Image 0" descr="/sessions/magical-eager-hopper/mnt/عرض/board.jpg">    </p:cNvPr>
          <p:cNvPicPr>
            <a:picLocks noChangeAspect="1"/>
          </p:cNvPicPr>
          <p:nvPr/>
        </p:nvPicPr>
        <p:blipFill>
          <a:blip r:embed="rId1"/>
          <a:srcRect l="0" r="0" t="0" b="0"/>
          <a:stretch/>
        </p:blipFill>
        <p:spPr>
          <a:xfrm>
            <a:off x="5760720" y="1097280"/>
            <a:ext cx="2926080" cy="3200400"/>
          </a:xfrm>
          <a:prstGeom prst="rect">
            <a:avLst/>
          </a:prstGeom>
        </p:spPr>
      </p:pic>
      <p:sp>
        <p:nvSpPr>
          <p:cNvPr id="7" name="Shape 4"/>
          <p:cNvSpPr/>
          <p:nvPr/>
        </p:nvSpPr>
        <p:spPr>
          <a:xfrm>
            <a:off x="7178040" y="4434840"/>
            <a:ext cx="54864" cy="594360"/>
          </a:xfrm>
          <a:prstGeom prst="rect">
            <a:avLst/>
          </a:prstGeom>
          <a:solidFill>
            <a:srgbClr val="10B981"/>
          </a:solidFill>
          <a:ln/>
        </p:spPr>
      </p:sp>
      <p:sp>
        <p:nvSpPr>
          <p:cNvPr id="8" name="Text 5"/>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502920" y="320040"/>
            <a:ext cx="73152" cy="594360"/>
          </a:xfrm>
          <a:prstGeom prst="rect">
            <a:avLst/>
          </a:prstGeom>
          <a:solidFill>
            <a:srgbClr val="10B981"/>
          </a:solidFill>
          <a:ln/>
        </p:spPr>
      </p:sp>
      <p:sp>
        <p:nvSpPr>
          <p:cNvPr id="3" name="Text 1"/>
          <p:cNvSpPr/>
          <p:nvPr/>
        </p:nvSpPr>
        <p:spPr>
          <a:xfrm>
            <a:off x="685800" y="274320"/>
            <a:ext cx="7772400" cy="685800"/>
          </a:xfrm>
          <a:prstGeom prst="rect">
            <a:avLst/>
          </a:prstGeom>
          <a:noFill/>
          <a:ln/>
        </p:spPr>
        <p:txBody>
          <a:bodyPr wrap="square" rtlCol="0" anchor="ctr"/>
          <a:lstStyle/>
          <a:p>
            <a:pPr algn="r" indent="0" marL="0">
              <a:buNone/>
            </a:pPr>
            <a:r>
              <a:rPr lang="en-US" sz="2600" b="1" dirty="0">
                <a:solidFill>
                  <a:srgbClr val="F8FAFC"/>
                </a:solidFill>
                <a:latin typeface="Arial" pitchFamily="34" charset="0"/>
                <a:ea typeface="Arial" pitchFamily="34" charset="-122"/>
                <a:cs typeface="Arial" pitchFamily="34" charset="-120"/>
              </a:rPr>
              <a:t>الحل العملي | </a:t>
            </a:r>
            <a:pPr algn="r" indent="0" marL="0">
              <a:buNone/>
            </a:pPr>
            <a:r>
              <a:rPr lang="en-US" sz="2600" b="1" dirty="0">
                <a:solidFill>
                  <a:srgbClr val="10B981"/>
                </a:solidFill>
                <a:latin typeface="Arial" pitchFamily="34" charset="0"/>
                <a:ea typeface="Arial" pitchFamily="34" charset="-122"/>
                <a:cs typeface="Arial" pitchFamily="34" charset="-120"/>
              </a:rPr>
              <a:t>القاعدة 3: عتاد المهندس الاستراتيجي (4 أدوات فقط)</a:t>
            </a:r>
            <a:endParaRPr lang="en-US" sz="2600" dirty="0"/>
          </a:p>
        </p:txBody>
      </p:sp>
      <p:sp>
        <p:nvSpPr>
          <p:cNvPr id="4" name="Shape 2"/>
          <p:cNvSpPr/>
          <p:nvPr/>
        </p:nvSpPr>
        <p:spPr>
          <a:xfrm>
            <a:off x="320040" y="1188720"/>
            <a:ext cx="2011680" cy="2651760"/>
          </a:xfrm>
          <a:prstGeom prst="rect">
            <a:avLst/>
          </a:prstGeom>
          <a:solidFill>
            <a:srgbClr val="1E293B">
              <a:alpha val="40000"/>
            </a:srgbClr>
          </a:solidFill>
          <a:ln/>
        </p:spPr>
      </p:sp>
      <p:sp>
        <p:nvSpPr>
          <p:cNvPr id="5" name="Shape 3"/>
          <p:cNvSpPr/>
          <p:nvPr/>
        </p:nvSpPr>
        <p:spPr>
          <a:xfrm>
            <a:off x="320040" y="3785616"/>
            <a:ext cx="2011680" cy="54864"/>
          </a:xfrm>
          <a:prstGeom prst="rect">
            <a:avLst/>
          </a:prstGeom>
          <a:solidFill>
            <a:srgbClr val="3B82F6"/>
          </a:solidFill>
          <a:ln/>
        </p:spPr>
      </p:sp>
      <p:sp>
        <p:nvSpPr>
          <p:cNvPr id="6" name="Text 4"/>
          <p:cNvSpPr/>
          <p:nvPr/>
        </p:nvSpPr>
        <p:spPr>
          <a:xfrm>
            <a:off x="411480" y="1325880"/>
            <a:ext cx="1828800" cy="365760"/>
          </a:xfrm>
          <a:prstGeom prst="rect">
            <a:avLst/>
          </a:prstGeom>
          <a:noFill/>
          <a:ln/>
        </p:spPr>
        <p:txBody>
          <a:bodyPr wrap="square" rtlCol="0" anchor="ctr"/>
          <a:lstStyle/>
          <a:p>
            <a:pPr rtl="1" algn="ctr" indent="0" marL="0">
              <a:buNone/>
            </a:pPr>
            <a:r>
              <a:rPr lang="en-US" sz="1500" b="1" dirty="0">
                <a:solidFill>
                  <a:srgbClr val="3B82F6"/>
                </a:solidFill>
                <a:latin typeface="Arial" pitchFamily="34" charset="0"/>
                <a:ea typeface="Arial" pitchFamily="34" charset="-122"/>
                <a:cs typeface="Arial" pitchFamily="34" charset="-120"/>
              </a:rPr>
              <a:t>Claude</a:t>
            </a:r>
            <a:endParaRPr lang="en-US" sz="1500" dirty="0"/>
          </a:p>
        </p:txBody>
      </p:sp>
      <p:sp>
        <p:nvSpPr>
          <p:cNvPr id="7" name="Text 5"/>
          <p:cNvSpPr/>
          <p:nvPr/>
        </p:nvSpPr>
        <p:spPr>
          <a:xfrm>
            <a:off x="411480" y="1783080"/>
            <a:ext cx="1828800" cy="1828800"/>
          </a:xfrm>
          <a:prstGeom prst="rect">
            <a:avLst/>
          </a:prstGeom>
          <a:noFill/>
          <a:ln/>
        </p:spPr>
        <p:txBody>
          <a:bodyPr wrap="square" rtlCol="0" anchor="t"/>
          <a:lstStyle/>
          <a:p>
            <a:pPr rtl="1" algn="r" indent="0" marL="0">
              <a:lnSpc>
                <a:spcPct val="130000"/>
              </a:lnSpc>
              <a:buNone/>
            </a:pPr>
            <a:r>
              <a:rPr lang="en-US" sz="900" dirty="0">
                <a:solidFill>
                  <a:srgbClr val="94A3B8"/>
                </a:solidFill>
                <a:latin typeface="Arial" pitchFamily="34" charset="0"/>
                <a:ea typeface="Arial" pitchFamily="34" charset="-122"/>
                <a:cs typeface="Arial" pitchFamily="34" charset="-120"/>
              </a:rPr>
              <a:t>المعلم والمناقش الخصوصي الأول؛ الأقوى ذكاءً برمجياً وتحليلياً وفلسفياً في شرح المفاهيم المعقدة، وتفكيك شروط المنطق.</a:t>
            </a:r>
            <a:endParaRPr lang="en-US" sz="900" dirty="0"/>
          </a:p>
        </p:txBody>
      </p:sp>
      <p:sp>
        <p:nvSpPr>
          <p:cNvPr id="8" name="Shape 6"/>
          <p:cNvSpPr/>
          <p:nvPr/>
        </p:nvSpPr>
        <p:spPr>
          <a:xfrm>
            <a:off x="2514600" y="1188720"/>
            <a:ext cx="2011680" cy="2651760"/>
          </a:xfrm>
          <a:prstGeom prst="rect">
            <a:avLst/>
          </a:prstGeom>
          <a:solidFill>
            <a:srgbClr val="1E293B">
              <a:alpha val="40000"/>
            </a:srgbClr>
          </a:solidFill>
          <a:ln/>
        </p:spPr>
      </p:sp>
      <p:sp>
        <p:nvSpPr>
          <p:cNvPr id="9" name="Shape 7"/>
          <p:cNvSpPr/>
          <p:nvPr/>
        </p:nvSpPr>
        <p:spPr>
          <a:xfrm>
            <a:off x="2514600" y="3785616"/>
            <a:ext cx="2011680" cy="54864"/>
          </a:xfrm>
          <a:prstGeom prst="rect">
            <a:avLst/>
          </a:prstGeom>
          <a:solidFill>
            <a:srgbClr val="A78BFA"/>
          </a:solidFill>
          <a:ln/>
        </p:spPr>
      </p:sp>
      <p:sp>
        <p:nvSpPr>
          <p:cNvPr id="10" name="Text 8"/>
          <p:cNvSpPr/>
          <p:nvPr/>
        </p:nvSpPr>
        <p:spPr>
          <a:xfrm>
            <a:off x="2606040" y="1325880"/>
            <a:ext cx="1828800" cy="365760"/>
          </a:xfrm>
          <a:prstGeom prst="rect">
            <a:avLst/>
          </a:prstGeom>
          <a:noFill/>
          <a:ln/>
        </p:spPr>
        <p:txBody>
          <a:bodyPr wrap="square" rtlCol="0" anchor="ctr"/>
          <a:lstStyle/>
          <a:p>
            <a:pPr rtl="1" algn="ctr" indent="0" marL="0">
              <a:buNone/>
            </a:pPr>
            <a:r>
              <a:rPr lang="en-US" sz="1500" b="1" dirty="0">
                <a:solidFill>
                  <a:srgbClr val="A78BFA"/>
                </a:solidFill>
                <a:latin typeface="Arial" pitchFamily="34" charset="0"/>
                <a:ea typeface="Arial" pitchFamily="34" charset="-122"/>
                <a:cs typeface="Arial" pitchFamily="34" charset="-120"/>
              </a:rPr>
              <a:t>NotebookLM</a:t>
            </a:r>
            <a:endParaRPr lang="en-US" sz="1500" dirty="0"/>
          </a:p>
        </p:txBody>
      </p:sp>
      <p:sp>
        <p:nvSpPr>
          <p:cNvPr id="11" name="Text 9"/>
          <p:cNvSpPr/>
          <p:nvPr/>
        </p:nvSpPr>
        <p:spPr>
          <a:xfrm>
            <a:off x="2606040" y="1783080"/>
            <a:ext cx="1828800" cy="1828800"/>
          </a:xfrm>
          <a:prstGeom prst="rect">
            <a:avLst/>
          </a:prstGeom>
          <a:noFill/>
          <a:ln/>
        </p:spPr>
        <p:txBody>
          <a:bodyPr wrap="square" rtlCol="0" anchor="t"/>
          <a:lstStyle/>
          <a:p>
            <a:pPr rtl="1" algn="r" indent="0" marL="0">
              <a:lnSpc>
                <a:spcPct val="130000"/>
              </a:lnSpc>
              <a:buNone/>
            </a:pPr>
            <a:r>
              <a:rPr lang="en-US" sz="900" dirty="0">
                <a:solidFill>
                  <a:srgbClr val="94A3B8"/>
                </a:solidFill>
                <a:latin typeface="Arial" pitchFamily="34" charset="0"/>
                <a:ea typeface="Arial" pitchFamily="34" charset="-122"/>
                <a:cs typeface="Arial" pitchFamily="34" charset="-120"/>
              </a:rPr>
              <a:t>سلاح التلخيص، المذاكرة، والمراجعة الذكي؛ ترفع له ملفات الـ PDFs الخاصة بمحاضرات الجامعة، فيحولها لك إلى ملخصات ذكية.</a:t>
            </a:r>
            <a:endParaRPr lang="en-US" sz="900" dirty="0"/>
          </a:p>
        </p:txBody>
      </p:sp>
      <p:sp>
        <p:nvSpPr>
          <p:cNvPr id="12" name="Shape 10"/>
          <p:cNvSpPr/>
          <p:nvPr/>
        </p:nvSpPr>
        <p:spPr>
          <a:xfrm>
            <a:off x="4709160" y="1188720"/>
            <a:ext cx="2011680" cy="2651760"/>
          </a:xfrm>
          <a:prstGeom prst="rect">
            <a:avLst/>
          </a:prstGeom>
          <a:solidFill>
            <a:srgbClr val="1E293B">
              <a:alpha val="40000"/>
            </a:srgbClr>
          </a:solidFill>
          <a:ln/>
        </p:spPr>
      </p:sp>
      <p:sp>
        <p:nvSpPr>
          <p:cNvPr id="13" name="Shape 11"/>
          <p:cNvSpPr/>
          <p:nvPr/>
        </p:nvSpPr>
        <p:spPr>
          <a:xfrm>
            <a:off x="4709160" y="3785616"/>
            <a:ext cx="2011680" cy="54864"/>
          </a:xfrm>
          <a:prstGeom prst="rect">
            <a:avLst/>
          </a:prstGeom>
          <a:solidFill>
            <a:srgbClr val="34D399"/>
          </a:solidFill>
          <a:ln/>
        </p:spPr>
      </p:sp>
      <p:sp>
        <p:nvSpPr>
          <p:cNvPr id="14" name="Text 12"/>
          <p:cNvSpPr/>
          <p:nvPr/>
        </p:nvSpPr>
        <p:spPr>
          <a:xfrm>
            <a:off x="4800600" y="1325880"/>
            <a:ext cx="1828800" cy="365760"/>
          </a:xfrm>
          <a:prstGeom prst="rect">
            <a:avLst/>
          </a:prstGeom>
          <a:noFill/>
          <a:ln/>
        </p:spPr>
        <p:txBody>
          <a:bodyPr wrap="square" rtlCol="0" anchor="ctr"/>
          <a:lstStyle/>
          <a:p>
            <a:pPr rtl="1" algn="ctr" indent="0" marL="0">
              <a:buNone/>
            </a:pPr>
            <a:r>
              <a:rPr lang="en-US" sz="1500" b="1" dirty="0">
                <a:solidFill>
                  <a:srgbClr val="34D399"/>
                </a:solidFill>
                <a:latin typeface="Arial" pitchFamily="34" charset="0"/>
                <a:ea typeface="Arial" pitchFamily="34" charset="-122"/>
                <a:cs typeface="Arial" pitchFamily="34" charset="-120"/>
              </a:rPr>
              <a:t>Cursor</a:t>
            </a:r>
            <a:endParaRPr lang="en-US" sz="1500" dirty="0"/>
          </a:p>
        </p:txBody>
      </p:sp>
      <p:sp>
        <p:nvSpPr>
          <p:cNvPr id="15" name="Text 13"/>
          <p:cNvSpPr/>
          <p:nvPr/>
        </p:nvSpPr>
        <p:spPr>
          <a:xfrm>
            <a:off x="4800600" y="1783080"/>
            <a:ext cx="1828800" cy="1828800"/>
          </a:xfrm>
          <a:prstGeom prst="rect">
            <a:avLst/>
          </a:prstGeom>
          <a:noFill/>
          <a:ln/>
        </p:spPr>
        <p:txBody>
          <a:bodyPr wrap="square" rtlCol="0" anchor="t"/>
          <a:lstStyle/>
          <a:p>
            <a:pPr rtl="1" algn="r" indent="0" marL="0">
              <a:lnSpc>
                <a:spcPct val="130000"/>
              </a:lnSpc>
              <a:buNone/>
            </a:pPr>
            <a:r>
              <a:rPr lang="en-US" sz="900" dirty="0">
                <a:solidFill>
                  <a:srgbClr val="94A3B8"/>
                </a:solidFill>
                <a:latin typeface="Arial" pitchFamily="34" charset="0"/>
                <a:ea typeface="Arial" pitchFamily="34" charset="-122"/>
                <a:cs typeface="Arial" pitchFamily="34" charset="-120"/>
              </a:rPr>
              <a:t>بيئة التطوير ومحرر الإنتاجية المتقدم؛ الأداة الأقوى لتسريع الكتابة الروتينية ومزامنة الأكواد وضبط الـ Architecture.</a:t>
            </a:r>
            <a:endParaRPr lang="en-US" sz="900" dirty="0"/>
          </a:p>
        </p:txBody>
      </p:sp>
      <p:sp>
        <p:nvSpPr>
          <p:cNvPr id="16" name="Shape 14"/>
          <p:cNvSpPr/>
          <p:nvPr/>
        </p:nvSpPr>
        <p:spPr>
          <a:xfrm>
            <a:off x="6903720" y="1188720"/>
            <a:ext cx="2011680" cy="2651760"/>
          </a:xfrm>
          <a:prstGeom prst="rect">
            <a:avLst/>
          </a:prstGeom>
          <a:solidFill>
            <a:srgbClr val="1E293B">
              <a:alpha val="40000"/>
            </a:srgbClr>
          </a:solidFill>
          <a:ln/>
        </p:spPr>
      </p:sp>
      <p:sp>
        <p:nvSpPr>
          <p:cNvPr id="17" name="Shape 15"/>
          <p:cNvSpPr/>
          <p:nvPr/>
        </p:nvSpPr>
        <p:spPr>
          <a:xfrm>
            <a:off x="6903720" y="3785616"/>
            <a:ext cx="2011680" cy="54864"/>
          </a:xfrm>
          <a:prstGeom prst="rect">
            <a:avLst/>
          </a:prstGeom>
          <a:solidFill>
            <a:srgbClr val="FACC15"/>
          </a:solidFill>
          <a:ln/>
        </p:spPr>
      </p:sp>
      <p:sp>
        <p:nvSpPr>
          <p:cNvPr id="18" name="Text 16"/>
          <p:cNvSpPr/>
          <p:nvPr/>
        </p:nvSpPr>
        <p:spPr>
          <a:xfrm>
            <a:off x="6995160" y="1325880"/>
            <a:ext cx="1828800" cy="365760"/>
          </a:xfrm>
          <a:prstGeom prst="rect">
            <a:avLst/>
          </a:prstGeom>
          <a:noFill/>
          <a:ln/>
        </p:spPr>
        <p:txBody>
          <a:bodyPr wrap="square" rtlCol="0" anchor="ctr"/>
          <a:lstStyle/>
          <a:p>
            <a:pPr rtl="1" algn="ctr" indent="0" marL="0">
              <a:buNone/>
            </a:pPr>
            <a:r>
              <a:rPr lang="en-US" sz="1500" b="1" dirty="0">
                <a:solidFill>
                  <a:srgbClr val="FACC15"/>
                </a:solidFill>
                <a:latin typeface="Arial" pitchFamily="34" charset="0"/>
                <a:ea typeface="Arial" pitchFamily="34" charset="-122"/>
                <a:cs typeface="Arial" pitchFamily="34" charset="-120"/>
              </a:rPr>
              <a:t>Perplexity</a:t>
            </a:r>
            <a:endParaRPr lang="en-US" sz="1500" dirty="0"/>
          </a:p>
        </p:txBody>
      </p:sp>
      <p:sp>
        <p:nvSpPr>
          <p:cNvPr id="19" name="Text 17"/>
          <p:cNvSpPr/>
          <p:nvPr/>
        </p:nvSpPr>
        <p:spPr>
          <a:xfrm>
            <a:off x="6995160" y="1783080"/>
            <a:ext cx="1828800" cy="1828800"/>
          </a:xfrm>
          <a:prstGeom prst="rect">
            <a:avLst/>
          </a:prstGeom>
          <a:noFill/>
          <a:ln/>
        </p:spPr>
        <p:txBody>
          <a:bodyPr wrap="square" rtlCol="0" anchor="t"/>
          <a:lstStyle/>
          <a:p>
            <a:pPr rtl="1" algn="r" indent="0" marL="0">
              <a:lnSpc>
                <a:spcPct val="130000"/>
              </a:lnSpc>
              <a:buNone/>
            </a:pPr>
            <a:r>
              <a:rPr lang="en-US" sz="900" dirty="0">
                <a:solidFill>
                  <a:srgbClr val="94A3B8"/>
                </a:solidFill>
                <a:latin typeface="Arial" pitchFamily="34" charset="0"/>
                <a:ea typeface="Arial" pitchFamily="34" charset="-122"/>
                <a:cs typeface="Arial" pitchFamily="34" charset="-120"/>
              </a:rPr>
              <a:t>محرك البحث التكنولوجي الموثق؛ البديل العصري لمحرك جوجل، تسأله عن أي مشكلة برمجية فيعطيك إجابة مجمعة ومنسقة فوراً.</a:t>
            </a:r>
            <a:endParaRPr lang="en-US" sz="900" dirty="0"/>
          </a:p>
        </p:txBody>
      </p:sp>
      <p:sp>
        <p:nvSpPr>
          <p:cNvPr id="20" name="Text 18"/>
          <p:cNvSpPr/>
          <p:nvPr/>
        </p:nvSpPr>
        <p:spPr>
          <a:xfrm>
            <a:off x="457200" y="4023360"/>
            <a:ext cx="8229600" cy="457200"/>
          </a:xfrm>
          <a:prstGeom prst="rect">
            <a:avLst/>
          </a:prstGeom>
          <a:noFill/>
          <a:ln/>
        </p:spPr>
        <p:txBody>
          <a:bodyPr wrap="square" rtlCol="0" anchor="ctr"/>
          <a:lstStyle/>
          <a:p>
            <a:pPr rtl="1" algn="ctr" indent="0" marL="0">
              <a:buNone/>
            </a:pPr>
            <a:r>
              <a:rPr lang="en-US" sz="1100" b="1" dirty="0">
                <a:solidFill>
                  <a:srgbClr val="EF4444"/>
                </a:solidFill>
                <a:latin typeface="Arial" pitchFamily="34" charset="0"/>
                <a:ea typeface="Arial" pitchFamily="34" charset="-122"/>
                <a:cs typeface="Arial" pitchFamily="34" charset="-120"/>
              </a:rPr>
              <a:t>"المطور الذي يشتت نفسه ويستخدم 10 أدوات بشكل سطحي وعشوائي = لن يتعلم ولن يتقن أي واحدة منها أبداً."</a:t>
            </a:r>
            <a:endParaRPr lang="en-US" sz="1100" dirty="0"/>
          </a:p>
        </p:txBody>
      </p:sp>
      <p:sp>
        <p:nvSpPr>
          <p:cNvPr id="21" name="Shape 19"/>
          <p:cNvSpPr/>
          <p:nvPr/>
        </p:nvSpPr>
        <p:spPr>
          <a:xfrm>
            <a:off x="7178040" y="4434840"/>
            <a:ext cx="54864" cy="594360"/>
          </a:xfrm>
          <a:prstGeom prst="rect">
            <a:avLst/>
          </a:prstGeom>
          <a:solidFill>
            <a:srgbClr val="10B981"/>
          </a:solidFill>
          <a:ln/>
        </p:spPr>
      </p:sp>
      <p:sp>
        <p:nvSpPr>
          <p:cNvPr id="22" name="Text 20"/>
          <p:cNvSpPr/>
          <p:nvPr/>
        </p:nvSpPr>
        <p:spPr>
          <a:xfrm>
            <a:off x="5029200" y="4434840"/>
            <a:ext cx="2103120" cy="59436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20617"/>
        </a:solidFill>
      </p:bgPr>
    </p:bg>
    <p:spTree>
      <p:nvGrpSpPr>
        <p:cNvPr id="1" name=""/>
        <p:cNvGrpSpPr/>
        <p:nvPr/>
      </p:nvGrpSpPr>
      <p:grpSpPr>
        <a:xfrm>
          <a:off x="0" y="0"/>
          <a:ext cx="0" cy="0"/>
          <a:chOff x="0" y="0"/>
          <a:chExt cx="0" cy="0"/>
        </a:xfrm>
      </p:grpSpPr>
      <p:sp>
        <p:nvSpPr>
          <p:cNvPr id="2" name="Text 0"/>
          <p:cNvSpPr/>
          <p:nvPr/>
        </p:nvSpPr>
        <p:spPr>
          <a:xfrm>
            <a:off x="274320" y="274320"/>
            <a:ext cx="5486400" cy="731520"/>
          </a:xfrm>
          <a:prstGeom prst="rect">
            <a:avLst/>
          </a:prstGeom>
          <a:noFill/>
          <a:ln/>
        </p:spPr>
        <p:txBody>
          <a:bodyPr wrap="square" rtlCol="0" anchor="ctr"/>
          <a:lstStyle/>
          <a:p>
            <a:pPr rtl="1" algn="r" indent="0" marL="0">
              <a:buNone/>
            </a:pPr>
            <a:r>
              <a:rPr lang="en-US" sz="3200" b="1" dirty="0">
                <a:solidFill>
                  <a:srgbClr val="10B981"/>
                </a:solidFill>
                <a:latin typeface="Arial" pitchFamily="34" charset="0"/>
                <a:ea typeface="Arial" pitchFamily="34" charset="-122"/>
                <a:cs typeface="Arial" pitchFamily="34" charset="-120"/>
              </a:rPr>
              <a:t>شكراً لكم ولحضوركم المتميز</a:t>
            </a:r>
            <a:endParaRPr lang="en-US" sz="3200" dirty="0"/>
          </a:p>
        </p:txBody>
      </p:sp>
      <p:sp>
        <p:nvSpPr>
          <p:cNvPr id="3" name="Shape 1"/>
          <p:cNvSpPr/>
          <p:nvPr/>
        </p:nvSpPr>
        <p:spPr>
          <a:xfrm>
            <a:off x="274320" y="1143000"/>
            <a:ext cx="5486400" cy="2743200"/>
          </a:xfrm>
          <a:prstGeom prst="rect">
            <a:avLst/>
          </a:prstGeom>
          <a:solidFill>
            <a:srgbClr val="FFFFFF">
              <a:alpha val="3000"/>
            </a:srgbClr>
          </a:solidFill>
          <a:ln w="6350">
            <a:solidFill>
              <a:srgbClr val="1E293B"/>
            </a:solidFill>
            <a:prstDash val="solid"/>
          </a:ln>
        </p:spPr>
      </p:sp>
      <p:sp>
        <p:nvSpPr>
          <p:cNvPr id="4" name="Text 2"/>
          <p:cNvSpPr/>
          <p:nvPr/>
        </p:nvSpPr>
        <p:spPr>
          <a:xfrm>
            <a:off x="457200" y="1234440"/>
            <a:ext cx="5120640" cy="320040"/>
          </a:xfrm>
          <a:prstGeom prst="rect">
            <a:avLst/>
          </a:prstGeom>
          <a:noFill/>
          <a:ln/>
        </p:spPr>
        <p:txBody>
          <a:bodyPr wrap="square" rtlCol="0" anchor="ctr"/>
          <a:lstStyle/>
          <a:p>
            <a:pPr rtl="1" algn="r" indent="0" marL="0">
              <a:buNone/>
            </a:pPr>
            <a:r>
              <a:rPr lang="en-US" sz="1300" b="1" dirty="0">
                <a:solidFill>
                  <a:srgbClr val="F8FAFC"/>
                </a:solidFill>
                <a:latin typeface="Arial" pitchFamily="34" charset="0"/>
                <a:ea typeface="Arial" pitchFamily="34" charset="-122"/>
                <a:cs typeface="Arial" pitchFamily="34" charset="-120"/>
              </a:rPr>
              <a:t>3 رسائل ذهبية نختم بها ملحمة هذه الورشة:</a:t>
            </a:r>
            <a:endParaRPr lang="en-US" sz="1300" dirty="0"/>
          </a:p>
        </p:txBody>
      </p:sp>
      <p:sp>
        <p:nvSpPr>
          <p:cNvPr id="5" name="Shape 3"/>
          <p:cNvSpPr/>
          <p:nvPr/>
        </p:nvSpPr>
        <p:spPr>
          <a:xfrm>
            <a:off x="457200" y="1572768"/>
            <a:ext cx="5120640" cy="0"/>
          </a:xfrm>
          <a:prstGeom prst="line">
            <a:avLst/>
          </a:prstGeom>
          <a:noFill/>
          <a:ln w="6350">
            <a:solidFill>
              <a:srgbClr val="1E293B"/>
            </a:solidFill>
            <a:prstDash val="solid"/>
          </a:ln>
        </p:spPr>
      </p:sp>
      <p:sp>
        <p:nvSpPr>
          <p:cNvPr id="6" name="Text 4"/>
          <p:cNvSpPr/>
          <p:nvPr/>
        </p:nvSpPr>
        <p:spPr>
          <a:xfrm>
            <a:off x="457200" y="1691640"/>
            <a:ext cx="5120640" cy="502920"/>
          </a:xfrm>
          <a:prstGeom prst="rect">
            <a:avLst/>
          </a:prstGeom>
          <a:noFill/>
          <a:ln/>
        </p:spPr>
        <p:txBody>
          <a:bodyPr wrap="square" rtlCol="0" anchor="t"/>
          <a:lstStyle/>
          <a:p>
            <a:pPr rtl="1" algn="r" indent="0" marL="0">
              <a:lnSpc>
                <a:spcPct val="120000"/>
              </a:lnSpc>
              <a:buNone/>
            </a:pPr>
            <a:r>
              <a:rPr lang="en-US" sz="1000" b="1" dirty="0">
                <a:solidFill>
                  <a:srgbClr val="10B981"/>
                </a:solidFill>
                <a:latin typeface="Arial" pitchFamily="34" charset="0"/>
                <a:ea typeface="Arial" pitchFamily="34" charset="-122"/>
                <a:cs typeface="Arial" pitchFamily="34" charset="-120"/>
              </a:rPr>
              <a:t>1. الـ AI لن يستبدلك كمهندس برمجيات واعي، بل سيقضي على المبرمج التقليدي الهش اللّي عاش على النسخ واللصق.</a:t>
            </a:r>
            <a:endParaRPr lang="en-US" sz="1000" dirty="0"/>
          </a:p>
        </p:txBody>
      </p:sp>
      <p:sp>
        <p:nvSpPr>
          <p:cNvPr id="7" name="Text 5"/>
          <p:cNvSpPr/>
          <p:nvPr/>
        </p:nvSpPr>
        <p:spPr>
          <a:xfrm>
            <a:off x="457200" y="2240280"/>
            <a:ext cx="5120640" cy="502920"/>
          </a:xfrm>
          <a:prstGeom prst="rect">
            <a:avLst/>
          </a:prstGeom>
          <a:noFill/>
          <a:ln/>
        </p:spPr>
        <p:txBody>
          <a:bodyPr wrap="square" rtlCol="0" anchor="t"/>
          <a:lstStyle/>
          <a:p>
            <a:pPr rtl="1" algn="r" indent="0" marL="0">
              <a:lnSpc>
                <a:spcPct val="120000"/>
              </a:lnSpc>
              <a:buNone/>
            </a:pPr>
            <a:r>
              <a:rPr lang="en-US" sz="1000" b="1" dirty="0">
                <a:solidFill>
                  <a:srgbClr val="F1F5F9"/>
                </a:solidFill>
                <a:latin typeface="Arial" pitchFamily="34" charset="0"/>
                <a:ea typeface="Arial" pitchFamily="34" charset="-122"/>
                <a:cs typeface="Arial" pitchFamily="34" charset="-120"/>
              </a:rPr>
              <a:t>2. تعثرك وصعوبة الفهم والخطأ في البداية هو الدليل البشري الطبيعي على أن عقلك يبني عضلاته الهندسية الحقيقية.</a:t>
            </a:r>
            <a:endParaRPr lang="en-US" sz="1000" dirty="0"/>
          </a:p>
        </p:txBody>
      </p:sp>
      <p:sp>
        <p:nvSpPr>
          <p:cNvPr id="8" name="Text 6"/>
          <p:cNvSpPr/>
          <p:nvPr/>
        </p:nvSpPr>
        <p:spPr>
          <a:xfrm>
            <a:off x="457200" y="2788920"/>
            <a:ext cx="5120640" cy="502920"/>
          </a:xfrm>
          <a:prstGeom prst="rect">
            <a:avLst/>
          </a:prstGeom>
          <a:noFill/>
          <a:ln/>
        </p:spPr>
        <p:txBody>
          <a:bodyPr wrap="square" rtlCol="0" anchor="t"/>
          <a:lstStyle/>
          <a:p>
            <a:pPr rtl="1" algn="r" indent="0" marL="0">
              <a:lnSpc>
                <a:spcPct val="120000"/>
              </a:lnSpc>
              <a:buNone/>
            </a:pPr>
            <a:r>
              <a:rPr lang="en-US" sz="1000" b="1" dirty="0">
                <a:solidFill>
                  <a:srgbClr val="CBD5E1"/>
                </a:solidFill>
                <a:latin typeface="Arial" pitchFamily="34" charset="0"/>
                <a:ea typeface="Arial" pitchFamily="34" charset="-122"/>
                <a:cs typeface="Arial" pitchFamily="34" charset="-120"/>
              </a:rPr>
              <a:t>3. ابني وتأسس بقوة حديدية أولاً بيدك، ثم أطلق سلاح الذكاء الاصطناعي في يدك لتكتسح وتغير مجالك بالكامل.</a:t>
            </a:r>
            <a:endParaRPr lang="en-US" sz="1000" dirty="0"/>
          </a:p>
        </p:txBody>
      </p:sp>
      <p:sp>
        <p:nvSpPr>
          <p:cNvPr id="9" name="Text 7"/>
          <p:cNvSpPr/>
          <p:nvPr/>
        </p:nvSpPr>
        <p:spPr>
          <a:xfrm>
            <a:off x="457200" y="3383280"/>
            <a:ext cx="5120640" cy="365760"/>
          </a:xfrm>
          <a:prstGeom prst="rect">
            <a:avLst/>
          </a:prstGeom>
          <a:noFill/>
          <a:ln/>
        </p:spPr>
        <p:txBody>
          <a:bodyPr wrap="square" rtlCol="0" anchor="ctr"/>
          <a:lstStyle/>
          <a:p>
            <a:pPr rtl="1" algn="ctr" indent="0" marL="0">
              <a:buNone/>
            </a:pPr>
            <a:r>
              <a:rPr lang="en-US" sz="1100" i="1" dirty="0">
                <a:solidFill>
                  <a:srgbClr val="94A3B8"/>
                </a:solidFill>
                <a:latin typeface="Arial" pitchFamily="34" charset="0"/>
                <a:ea typeface="Arial" pitchFamily="34" charset="-122"/>
                <a:cs typeface="Arial" pitchFamily="34" charset="-120"/>
              </a:rPr>
              <a:t>"أنتم في أفضل توقيت تكنولوجي.. فاجعلوه يصب لصالحكم بالكامل بالوعي والهندسة الصلبة."</a:t>
            </a:r>
            <a:endParaRPr lang="en-US" sz="1100" dirty="0"/>
          </a:p>
        </p:txBody>
      </p:sp>
      <p:sp>
        <p:nvSpPr>
          <p:cNvPr id="10" name="Shape 8"/>
          <p:cNvSpPr/>
          <p:nvPr/>
        </p:nvSpPr>
        <p:spPr>
          <a:xfrm>
            <a:off x="6217920" y="914400"/>
            <a:ext cx="1280160" cy="1280160"/>
          </a:xfrm>
          <a:prstGeom prst="rect">
            <a:avLst/>
          </a:prstGeom>
          <a:solidFill>
            <a:srgbClr val="FFFFFF"/>
          </a:solidFill>
          <a:ln/>
        </p:spPr>
      </p:sp>
      <p:pic>
        <p:nvPicPr>
          <p:cNvPr id="11" name="Image 0" descr="/sessions/magical-eager-hopper/mnt/عرض/qr-mohammed.jpg">    </p:cNvPr>
          <p:cNvPicPr>
            <a:picLocks noChangeAspect="1"/>
          </p:cNvPicPr>
          <p:nvPr/>
        </p:nvPicPr>
        <p:blipFill>
          <a:blip r:embed="rId1"/>
          <a:srcRect l="0" r="0" t="0" b="0"/>
          <a:stretch/>
        </p:blipFill>
        <p:spPr>
          <a:xfrm>
            <a:off x="6291072" y="987552"/>
            <a:ext cx="1133856" cy="1133856"/>
          </a:xfrm>
          <a:prstGeom prst="rect">
            <a:avLst/>
          </a:prstGeom>
        </p:spPr>
      </p:pic>
      <p:sp>
        <p:nvSpPr>
          <p:cNvPr id="12" name="Text 9"/>
          <p:cNvSpPr/>
          <p:nvPr/>
        </p:nvSpPr>
        <p:spPr>
          <a:xfrm>
            <a:off x="6080760" y="2286000"/>
            <a:ext cx="1554480" cy="320040"/>
          </a:xfrm>
          <a:prstGeom prst="rect">
            <a:avLst/>
          </a:prstGeom>
          <a:noFill/>
          <a:ln/>
        </p:spPr>
        <p:txBody>
          <a:bodyPr wrap="square" rtlCol="0" anchor="ctr"/>
          <a:lstStyle/>
          <a:p>
            <a:pPr rtl="1" algn="ctr" indent="0" marL="0">
              <a:buNone/>
            </a:pPr>
            <a:r>
              <a:rPr lang="en-US" sz="900" b="1" dirty="0">
                <a:solidFill>
                  <a:srgbClr val="10B981"/>
                </a:solidFill>
                <a:latin typeface="Arial" pitchFamily="34" charset="0"/>
                <a:ea typeface="Arial" pitchFamily="34" charset="-122"/>
                <a:cs typeface="Arial" pitchFamily="34" charset="-120"/>
              </a:rPr>
              <a:t>م. محمد النويري</a:t>
            </a:r>
            <a:endParaRPr lang="en-US" sz="900" dirty="0"/>
          </a:p>
        </p:txBody>
      </p:sp>
      <p:sp>
        <p:nvSpPr>
          <p:cNvPr id="13" name="Shape 10"/>
          <p:cNvSpPr/>
          <p:nvPr/>
        </p:nvSpPr>
        <p:spPr>
          <a:xfrm>
            <a:off x="7772400" y="914400"/>
            <a:ext cx="1280160" cy="1280160"/>
          </a:xfrm>
          <a:prstGeom prst="rect">
            <a:avLst/>
          </a:prstGeom>
          <a:solidFill>
            <a:srgbClr val="FFFFFF"/>
          </a:solidFill>
          <a:ln/>
        </p:spPr>
      </p:sp>
      <p:pic>
        <p:nvPicPr>
          <p:cNvPr id="14" name="Image 1" descr="/sessions/magical-eager-hopper/mnt/عرض/qr-duaa.jpg">    </p:cNvPr>
          <p:cNvPicPr>
            <a:picLocks noChangeAspect="1"/>
          </p:cNvPicPr>
          <p:nvPr/>
        </p:nvPicPr>
        <p:blipFill>
          <a:blip r:embed="rId2"/>
          <a:srcRect l="0" r="0" t="0" b="0"/>
          <a:stretch/>
        </p:blipFill>
        <p:spPr>
          <a:xfrm>
            <a:off x="7845552" y="987552"/>
            <a:ext cx="1133856" cy="1133856"/>
          </a:xfrm>
          <a:prstGeom prst="rect">
            <a:avLst/>
          </a:prstGeom>
        </p:spPr>
      </p:pic>
      <p:sp>
        <p:nvSpPr>
          <p:cNvPr id="15" name="Text 11"/>
          <p:cNvSpPr/>
          <p:nvPr/>
        </p:nvSpPr>
        <p:spPr>
          <a:xfrm>
            <a:off x="7635240" y="2286000"/>
            <a:ext cx="1554480" cy="320040"/>
          </a:xfrm>
          <a:prstGeom prst="rect">
            <a:avLst/>
          </a:prstGeom>
          <a:noFill/>
          <a:ln/>
        </p:spPr>
        <p:txBody>
          <a:bodyPr wrap="square" rtlCol="0" anchor="ctr"/>
          <a:lstStyle/>
          <a:p>
            <a:pPr rtl="1" algn="ctr" indent="0" marL="0">
              <a:buNone/>
            </a:pPr>
            <a:r>
              <a:rPr lang="en-US" sz="900" b="1" dirty="0">
                <a:solidFill>
                  <a:srgbClr val="10B981"/>
                </a:solidFill>
                <a:latin typeface="Arial" pitchFamily="34" charset="0"/>
                <a:ea typeface="Arial" pitchFamily="34" charset="-122"/>
                <a:cs typeface="Arial" pitchFamily="34" charset="-120"/>
              </a:rPr>
              <a:t>م. دعاء اليازجي</a:t>
            </a:r>
            <a:endParaRPr lang="en-US" sz="900" dirty="0"/>
          </a:p>
        </p:txBody>
      </p:sp>
      <p:sp>
        <p:nvSpPr>
          <p:cNvPr id="16" name="Text 12"/>
          <p:cNvSpPr/>
          <p:nvPr/>
        </p:nvSpPr>
        <p:spPr>
          <a:xfrm>
            <a:off x="5943600" y="2743200"/>
            <a:ext cx="2926080" cy="320040"/>
          </a:xfrm>
          <a:prstGeom prst="rect">
            <a:avLst/>
          </a:prstGeom>
          <a:noFill/>
          <a:ln/>
        </p:spPr>
        <p:txBody>
          <a:bodyPr wrap="square" rtlCol="0" anchor="ctr"/>
          <a:lstStyle/>
          <a:p>
            <a:pPr rtl="1" algn="ctr" indent="0" marL="0">
              <a:buNone/>
            </a:pPr>
            <a:r>
              <a:rPr lang="en-US" sz="1100" b="1" dirty="0">
                <a:solidFill>
                  <a:srgbClr val="60A5FA"/>
                </a:solidFill>
                <a:latin typeface="Arial" pitchFamily="34" charset="0"/>
                <a:ea typeface="Arial" pitchFamily="34" charset="-122"/>
                <a:cs typeface="Arial" pitchFamily="34" charset="-120"/>
              </a:rPr>
              <a:t>تواصلوا معنا عبر لينكد إن</a:t>
            </a:r>
            <a:endParaRPr lang="en-US" sz="1100" dirty="0"/>
          </a:p>
        </p:txBody>
      </p:sp>
      <p:sp>
        <p:nvSpPr>
          <p:cNvPr id="17" name="Shape 13"/>
          <p:cNvSpPr/>
          <p:nvPr/>
        </p:nvSpPr>
        <p:spPr>
          <a:xfrm>
            <a:off x="7178040" y="4251960"/>
            <a:ext cx="54864" cy="777240"/>
          </a:xfrm>
          <a:prstGeom prst="rect">
            <a:avLst/>
          </a:prstGeom>
          <a:solidFill>
            <a:srgbClr val="10B981"/>
          </a:solidFill>
          <a:ln/>
        </p:spPr>
      </p:sp>
      <p:sp>
        <p:nvSpPr>
          <p:cNvPr id="18" name="Text 14"/>
          <p:cNvSpPr/>
          <p:nvPr/>
        </p:nvSpPr>
        <p:spPr>
          <a:xfrm>
            <a:off x="5029200" y="4251960"/>
            <a:ext cx="2103120" cy="777240"/>
          </a:xfrm>
          <a:prstGeom prst="rect">
            <a:avLst/>
          </a:prstGeom>
          <a:noFill/>
          <a:ln/>
        </p:spPr>
        <p:txBody>
          <a:bodyPr wrap="square" rtlCol="0" anchor="ctr"/>
          <a:lstStyle/>
          <a:p>
            <a:pPr algn="r" indent="0" marL="0">
              <a:buNone/>
            </a:pPr>
            <a:r>
              <a:rPr lang="en-US" sz="1000" b="1" dirty="0">
                <a:solidFill>
                  <a:srgbClr val="F8FAFC"/>
                </a:solidFill>
                <a:latin typeface="Arial" pitchFamily="34" charset="0"/>
                <a:ea typeface="Arial" pitchFamily="34" charset="-122"/>
                <a:cs typeface="Arial" pitchFamily="34" charset="-120"/>
              </a:rPr>
              <a:t>م. محمد النويري</a:t>
            </a:r>
            <a:endParaRPr lang="en-US" sz="1000" dirty="0"/>
          </a:p>
          <a:p>
            <a:pPr algn="r" indent="0" marL="0">
              <a:buNone/>
            </a:pPr>
            <a:r>
              <a:rPr lang="en-US" sz="1000" b="1" dirty="0">
                <a:solidFill>
                  <a:srgbClr val="F8FAFC"/>
                </a:solidFill>
                <a:latin typeface="Arial" pitchFamily="34" charset="0"/>
                <a:ea typeface="Arial" pitchFamily="34" charset="-122"/>
                <a:cs typeface="Arial" pitchFamily="34" charset="-120"/>
              </a:rPr>
              <a:t>م. دعاء اليازجي</a:t>
            </a:r>
            <a:endParaRPr lang="en-US" sz="1000" dirty="0"/>
          </a:p>
          <a:p>
            <a:pPr algn="r" indent="0" marL="0">
              <a:buNone/>
            </a:pPr>
            <a:r>
              <a:rPr lang="en-US" sz="800" dirty="0">
                <a:solidFill>
                  <a:srgbClr val="94A3B8"/>
                </a:solidFill>
                <a:latin typeface="Arial" pitchFamily="34" charset="0"/>
                <a:ea typeface="Arial" pitchFamily="34" charset="-122"/>
                <a:cs typeface="Arial" pitchFamily="34" charset="-120"/>
              </a:rPr>
              <a:t>باب الأسئلة والنقاش الـ Q&amp;A مفتوح الآن لكم</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معركة الـ 40% - لماذا لن يستبدلك الذكاء الاصطناعي؟</dc:title>
  <dc:subject>PptxGenJS Presentation</dc:subject>
  <dc:creator>م. محمد النويري &amp; م. دعاء اليازجي</dc:creator>
  <cp:lastModifiedBy>م. محمد النويري &amp; م. دعاء اليازجي</cp:lastModifiedBy>
  <cp:revision>1</cp:revision>
  <dcterms:created xsi:type="dcterms:W3CDTF">2026-05-20T06:18:47Z</dcterms:created>
  <dcterms:modified xsi:type="dcterms:W3CDTF">2026-05-20T06:18:47Z</dcterms:modified>
</cp:coreProperties>
</file>